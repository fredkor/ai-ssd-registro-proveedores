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9a32b3ea-541a-c36c-7de7-9d960ba0e552}">
          <p14:sldIdLst>
            <p14:sldId id="256"/>
            <p14:sldId id="257"/>
            <p14:sldId id="258"/>
          </p14:sldIdLst>
        </p14:section>
        <p14:section name="Solución" id="{68cd6c70-fdf0-2698-a3e7-24cbab6f7abe}">
          <p14:sldIdLst>
            <p14:sldId id="259"/>
            <p14:sldId id="260"/>
            <p14:sldId id="266"/>
          </p14:sldIdLst>
        </p14:section>
        <p14:section name="Calidad" id="{b7fa37cd-6f05-0f87-8c1b-a9de3132026d}">
          <p14:sldIdLst>
            <p14:sldId id="261"/>
            <p14:sldId id="262"/>
          </p14:sldIdLst>
        </p14:section>
        <p14:section name="Proceso" id="{032dee1c-7c79-6b00-eca9-454513d40cde}">
          <p14:sldIdLst>
            <p14:sldId id="263"/>
            <p14:sldId id="264"/>
            <p14:sldId id="265"/>
          </p14:sldIdLst>
        </p14:section>
        <p14:section name="Cierre" id="{e4535ba8-5635-6618-8a67-14ef44a1b87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4E46"/>
                </a:solidFill>
                <a:latin typeface="+mn-lt"/>
              </a:rPr>
              <a:t>Pruebas por capa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1F4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Dominio</c:v>
                  </c:pt>
                  <c:pt idx="1">
                    <c:v>Aplicación</c:v>
                  </c:pt>
                  <c:pt idx="2">
                    <c:v>Adapt. entrada</c:v>
                  </c:pt>
                  <c:pt idx="3">
                    <c:v>Adapt. salida</c:v>
                  </c:pt>
                  <c:pt idx="4">
                    <c:v>Integración</c:v>
                  </c:pt>
                  <c:pt idx="5">
                    <c:v>Configuración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</c:v>
                </c:pt>
                <c:pt idx="1">
                  <c:v>117</c:v>
                </c:pt>
                <c:pt idx="2">
                  <c:v>104</c:v>
                </c:pt>
                <c:pt idx="3">
                  <c:v>112</c:v>
                </c:pt>
                <c:pt idx="4">
                  <c:v>196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4E46"/>
                </a:solidFill>
                <a:latin typeface="+mn-lt"/>
              </a:rPr>
              <a:t>Criterios de aceptación por historia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Criterios</c:v>
                </c:pt>
              </c:strCache>
            </c:strRef>
          </c:tx>
          <c:spPr>
            <a:solidFill>
              <a:srgbClr val="9FC3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  <c:pt idx="10">
                    <c:v>US11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</c:v>
                </c:pt>
                <c:pt idx="1">
                  <c:v>5</c:v>
                </c:pt>
                <c:pt idx="2">
                  <c:v>8</c:v>
                </c:pt>
                <c:pt idx="3">
                  <c:v>6</c:v>
                </c:pt>
                <c:pt idx="4">
                  <c:v>11</c:v>
                </c:pt>
                <c:pt idx="5">
                  <c:v>10</c:v>
                </c:pt>
                <c:pt idx="6">
                  <c:v>7</c:v>
                </c:pt>
                <c:pt idx="7">
                  <c:v>27</c:v>
                </c:pt>
                <c:pt idx="8">
                  <c:v>9</c:v>
                </c:pt>
                <c:pt idx="9">
                  <c:v>11</c:v>
                </c:pt>
                <c:pt idx="10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Verificables en backend</c:v>
                </c:pt>
              </c:strCache>
            </c:strRef>
          </c:tx>
          <c:spPr>
            <a:solidFill>
              <a:srgbClr val="5B8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  <c:pt idx="10">
                    <c:v>US11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19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10</c:v>
                </c:pt>
                <c:pt idx="5">
                  <c:v>5</c:v>
                </c:pt>
                <c:pt idx="6">
                  <c:v>0</c:v>
                </c:pt>
                <c:pt idx="7">
                  <c:v>17</c:v>
                </c:pt>
                <c:pt idx="8">
                  <c:v>7</c:v>
                </c:pt>
                <c:pt idx="9">
                  <c:v>11</c:v>
                </c:pt>
                <c:pt idx="10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 prueba</c:v>
                </c:pt>
              </c:strCache>
            </c:strRef>
          </c:tx>
          <c:spPr>
            <a:solidFill>
              <a:srgbClr val="E3A3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  <c:pt idx="10">
                    <c:v>US11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19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10</c:v>
                </c:pt>
                <c:pt idx="5">
                  <c:v>5</c:v>
                </c:pt>
                <c:pt idx="6">
                  <c:v>0</c:v>
                </c:pt>
                <c:pt idx="7">
                  <c:v>17</c:v>
                </c:pt>
                <c:pt idx="8">
                  <c:v>7</c:v>
                </c:pt>
                <c:pt idx="9">
                  <c:v>11</c:v>
                </c:pt>
                <c:pt idx="10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2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4E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4E46"/>
                </a:solidFill>
                <a:latin typeface="+mn-lt"/>
              </a:rPr>
              <a:t>Commits por prefijo (sin fusiones)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5B8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2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feat:</c:v>
                  </c:pt>
                  <c:pt idx="1">
                    <c:v>spec:</c:v>
                  </c:pt>
                  <c:pt idx="2">
                    <c:v>design:</c:v>
                  </c:pt>
                  <c:pt idx="3">
                    <c:v>docs:</c:v>
                  </c:pt>
                  <c:pt idx="4">
                    <c:v>otros</c:v>
                  </c:pt>
                  <c:pt idx="5">
                    <c:v>fix:</c:v>
                  </c:pt>
                  <c:pt idx="6">
                    <c:v>contract:</c:v>
                  </c:pt>
                  <c:pt idx="7">
                    <c:v>test:</c:v>
                  </c:pt>
                  <c:pt idx="8">
                    <c:v>tooling:</c:v>
                  </c:pt>
                  <c:pt idx="9">
                    <c:v>refactor:</c:v>
                  </c:pt>
                  <c:pt idx="10">
                    <c:v>chore: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23</c:v>
                </c:pt>
                <c:pt idx="2">
                  <c:v>20</c:v>
                </c:pt>
                <c:pt idx="3">
                  <c:v>11</c:v>
                </c:pt>
                <c:pt idx="4">
                  <c:v>10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4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B2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primera etapa del Registro de proveedores. La etiqueta etapa-1 marca en git el commit entregado.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la etapa 1 está completa. Las cuatro cifras salen de comandos ejecutados hoy; la evidencia está en docs/entrega/evidencia.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specs/vision.md §3 y §4. La entrega es el backend; el frontend tiene solo la base de Sakai.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esquema que specs/architecture/architecture.md §3. Los decoradores transaccionales implementan el puerto de entrada y delegan en el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RF-REG-07 (finalizar) es de una etapa posterior. La limpieza diaria de archivos también está implementada aunque no es operación del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Dominio en JUnit puro, aplicación con dobles de los puertos, adaptadores de salida e integración contra PostgreSQL real. Fuente: backend/target/surefire-reports.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docs/sync-report.md generado por tools/spec_sync.py. US07 es la finalización, de la etapa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tipo de cambio va en su propio commit y en este orden. spec_lint valida specs y contrato antes de implementar; spec_sync cruza specs, código y pruebas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'otros' son los commits iniciales de configuración sin el prefijo convenido. Cifras de git log a la fecha de esta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PR siguieron el ciclo SDD: comparar, clasificar, aprobar y aplicar. Los cambios de spec quedaron en specs/CHANGELOG.md.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ADR de frontend (0011 a 0014) están aceptadas y guiarán la siguiente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etapa 1 queda etiquetada como etapa-1. Las prioridades propuestas son el frontend y la especificación de la etapa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Registro de proveedores · Fredkor Labs · Etapa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proveedores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Primera etapa entregada: backend, contrato, pruebas y documentación · 25 de octubre de 2026</a:t>
            </a:r>
            <a:endParaRPr lang="en-US" sz="2000" dirty="0"/>
          </a:p>
        </p:txBody>
      </p:sp>
      <p:sp>
        <p:nvSpPr>
          <p:cNvPr id="4" name="Etiqueta etapa-1 círculo"/>
          <p:cNvSpPr/>
          <p:nvPr/>
        </p:nvSpPr>
        <p:spPr>
          <a:xfrm>
            <a:off x="731520" y="9601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Etiqueta etapa-1 icono" descr="Etiqueta etap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490" y="1174090"/>
            <a:ext cx="395021" cy="395021"/>
          </a:xfrm>
          <a:prstGeom prst="rect">
            <a:avLst/>
          </a:prstGeom>
        </p:spPr>
      </p:pic>
      <p:sp>
        <p:nvSpPr>
          <p:cNvPr id="6" name="Etiqueta"/>
          <p:cNvSpPr txBox="1"/>
          <p:nvPr/>
        </p:nvSpPr>
        <p:spPr>
          <a:xfrm>
            <a:off x="173736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etapa-1</a:t>
            </a:r>
            <a:endParaRPr lang="en-US" sz="2000" dirty="0"/>
          </a:p>
        </p:txBody>
      </p:sp>
      <p:sp>
        <p:nvSpPr>
          <p:cNvPr id="7" name="Pie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Fredkor Labs · Plataforma de Compras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primera etapa está entregada y verificada</a:t>
            </a:r>
            <a:endParaRPr lang="en-US" sz="3200" dirty="0"/>
          </a:p>
        </p:txBody>
      </p:sp>
      <p:sp>
        <p:nvSpPr>
          <p:cNvPr id="3" name="Tarjeta operaciones"/>
          <p:cNvSpPr/>
          <p:nvPr/>
        </p:nvSpPr>
        <p:spPr>
          <a:xfrm>
            <a:off x="548640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peraciones círculo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peraciones icono" descr="ope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6" name="Cifra operaciones"/>
          <p:cNvSpPr txBox="1"/>
          <p:nvPr/>
        </p:nvSpPr>
        <p:spPr>
          <a:xfrm>
            <a:off x="82296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400" dirty="0"/>
          </a:p>
        </p:txBody>
      </p:sp>
      <p:sp>
        <p:nvSpPr>
          <p:cNvPr id="7" name="Etiqueta operaciones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operaciones</a:t>
            </a:r>
            <a:endParaRPr lang="en-US" sz="1800" dirty="0"/>
          </a:p>
        </p:txBody>
      </p:sp>
      <p:sp>
        <p:nvSpPr>
          <p:cNvPr id="8" name="Detalle operaciones"/>
          <p:cNvSpPr txBox="1"/>
          <p:nvPr/>
        </p:nvSpPr>
        <p:spPr>
          <a:xfrm>
            <a:off x="82296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Contrato OpenAPI 0.2.1, implementado 1:1</a:t>
            </a:r>
            <a:endParaRPr lang="en-US" sz="1400" dirty="0"/>
          </a:p>
        </p:txBody>
      </p:sp>
      <p:sp>
        <p:nvSpPr>
          <p:cNvPr id="9" name="Tarjeta pruebas en verde"/>
          <p:cNvSpPr/>
          <p:nvPr/>
        </p:nvSpPr>
        <p:spPr>
          <a:xfrm>
            <a:off x="3360420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uebas en verde círculo"/>
          <p:cNvSpPr/>
          <p:nvPr/>
        </p:nvSpPr>
        <p:spPr>
          <a:xfrm>
            <a:off x="363474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pruebas en verde icono" descr="pruebas en ver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935" y="1927555"/>
            <a:ext cx="351130" cy="351130"/>
          </a:xfrm>
          <a:prstGeom prst="rect">
            <a:avLst/>
          </a:prstGeom>
        </p:spPr>
      </p:pic>
      <p:sp>
        <p:nvSpPr>
          <p:cNvPr id="12" name="Cifra pruebas en verde"/>
          <p:cNvSpPr txBox="1"/>
          <p:nvPr/>
        </p:nvSpPr>
        <p:spPr>
          <a:xfrm>
            <a:off x="363474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646</a:t>
            </a:r>
            <a:endParaRPr lang="en-US" sz="4400" dirty="0"/>
          </a:p>
        </p:txBody>
      </p:sp>
      <p:sp>
        <p:nvSpPr>
          <p:cNvPr id="13" name="Etiqueta pruebas en verde"/>
          <p:cNvSpPr txBox="1"/>
          <p:nvPr/>
        </p:nvSpPr>
        <p:spPr>
          <a:xfrm>
            <a:off x="363474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pruebas en verde</a:t>
            </a:r>
            <a:endParaRPr lang="en-US" sz="1800" dirty="0"/>
          </a:p>
        </p:txBody>
      </p:sp>
      <p:sp>
        <p:nvSpPr>
          <p:cNvPr id="14" name="Detalle pruebas en verde"/>
          <p:cNvSpPr txBox="1"/>
          <p:nvPr/>
        </p:nvSpPr>
        <p:spPr>
          <a:xfrm>
            <a:off x="363474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83 clases · 0 fallos · 0 omitidas</a:t>
            </a:r>
            <a:endParaRPr lang="en-US" sz="1400" dirty="0"/>
          </a:p>
        </p:txBody>
      </p:sp>
      <p:sp>
        <p:nvSpPr>
          <p:cNvPr id="15" name="Tarjeta criterios con prueba"/>
          <p:cNvSpPr/>
          <p:nvPr/>
        </p:nvSpPr>
        <p:spPr>
          <a:xfrm>
            <a:off x="6172200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riterios con prueba círculo"/>
          <p:cNvSpPr/>
          <p:nvPr/>
        </p:nvSpPr>
        <p:spPr>
          <a:xfrm>
            <a:off x="64465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criterios con prueba icono" descr="criterios con prueb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15" y="1927555"/>
            <a:ext cx="351130" cy="351130"/>
          </a:xfrm>
          <a:prstGeom prst="rect">
            <a:avLst/>
          </a:prstGeom>
        </p:spPr>
      </p:pic>
      <p:sp>
        <p:nvSpPr>
          <p:cNvPr id="18" name="Cifra criterios con prueba"/>
          <p:cNvSpPr txBox="1"/>
          <p:nvPr/>
        </p:nvSpPr>
        <p:spPr>
          <a:xfrm>
            <a:off x="644652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91/91</a:t>
            </a:r>
            <a:endParaRPr lang="en-US" sz="4400" dirty="0"/>
          </a:p>
        </p:txBody>
      </p:sp>
      <p:sp>
        <p:nvSpPr>
          <p:cNvPr id="19" name="Etiqueta criterios con prueba"/>
          <p:cNvSpPr txBox="1"/>
          <p:nvPr/>
        </p:nvSpPr>
        <p:spPr>
          <a:xfrm>
            <a:off x="64465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criterios con prueba</a:t>
            </a:r>
            <a:endParaRPr lang="en-US" sz="1800" dirty="0"/>
          </a:p>
        </p:txBody>
      </p:sp>
      <p:sp>
        <p:nvSpPr>
          <p:cNvPr id="20" name="Detalle criterios con prueba"/>
          <p:cNvSpPr txBox="1"/>
          <p:nvPr/>
        </p:nvSpPr>
        <p:spPr>
          <a:xfrm>
            <a:off x="644652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Todos los verificables en backend</a:t>
            </a:r>
            <a:endParaRPr lang="en-US" sz="1400" dirty="0"/>
          </a:p>
        </p:txBody>
      </p:sp>
      <p:sp>
        <p:nvSpPr>
          <p:cNvPr id="21" name="Tarjeta divergencias abiertas"/>
          <p:cNvSpPr/>
          <p:nvPr/>
        </p:nvSpPr>
        <p:spPr>
          <a:xfrm>
            <a:off x="8983980" y="1463040"/>
            <a:ext cx="2606040" cy="4023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ivergencias abiertas círculo"/>
          <p:cNvSpPr/>
          <p:nvPr/>
        </p:nvSpPr>
        <p:spPr>
          <a:xfrm>
            <a:off x="9258300" y="17373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divergencias abiertas icono" descr="divergencias abiert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495" y="1927555"/>
            <a:ext cx="351130" cy="351130"/>
          </a:xfrm>
          <a:prstGeom prst="rect">
            <a:avLst/>
          </a:prstGeom>
        </p:spPr>
      </p:pic>
      <p:sp>
        <p:nvSpPr>
          <p:cNvPr id="24" name="Cifra divergencias abiertas"/>
          <p:cNvSpPr txBox="1"/>
          <p:nvPr/>
        </p:nvSpPr>
        <p:spPr>
          <a:xfrm>
            <a:off x="925830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5" name="Etiqueta divergencias abiertas"/>
          <p:cNvSpPr txBox="1"/>
          <p:nvPr/>
        </p:nvSpPr>
        <p:spPr>
          <a:xfrm>
            <a:off x="925830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divergencias abiertas</a:t>
            </a:r>
            <a:endParaRPr lang="en-US" sz="1800" dirty="0"/>
          </a:p>
        </p:txBody>
      </p:sp>
      <p:sp>
        <p:nvSpPr>
          <p:cNvPr id="26" name="Detalle divergencias abiertas"/>
          <p:cNvSpPr txBox="1"/>
          <p:nvPr/>
        </p:nvSpPr>
        <p:spPr>
          <a:xfrm>
            <a:off x="9258300" y="4434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spec_lint y spec_sync en OK</a:t>
            </a:r>
            <a:endParaRPr lang="en-US" sz="1400" dirty="0"/>
          </a:p>
        </p:txBody>
      </p:sp>
      <p:sp>
        <p:nvSpPr>
          <p:cNvPr id="27" name="Fuente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Cifras de la ejecución del 25 de octubre de 2026 sobre main (./mvnw clean test, spec_lint, spec_sync).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cubre la primera etapa y qué queda fuera</a:t>
            </a:r>
            <a:endParaRPr lang="en-US" sz="3200" dirty="0"/>
          </a:p>
        </p:txBody>
      </p:sp>
      <p:sp>
        <p:nvSpPr>
          <p:cNvPr id="3" name="Incluido"/>
          <p:cNvSpPr/>
          <p:nvPr/>
        </p:nvSpPr>
        <p:spPr>
          <a:xfrm>
            <a:off x="548640" y="1371600"/>
            <a:ext cx="576072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cluido círculo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ncluido icono" descr="Inclu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42846"/>
            <a:ext cx="263347" cy="263347"/>
          </a:xfrm>
          <a:prstGeom prst="rect">
            <a:avLst/>
          </a:prstGeom>
        </p:spPr>
      </p:pic>
      <p:sp>
        <p:nvSpPr>
          <p:cNvPr id="6" name="Encabezado incluido"/>
          <p:cNvSpPr txBox="1"/>
          <p:nvPr/>
        </p:nvSpPr>
        <p:spPr>
          <a:xfrm>
            <a:off x="155448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Incluido</a:t>
            </a:r>
            <a:endParaRPr lang="en-US" sz="2200" dirty="0"/>
          </a:p>
        </p:txBody>
      </p:sp>
      <p:sp>
        <p:nvSpPr>
          <p:cNvPr id="7" name="Lista incluido"/>
          <p:cNvSpPr txBox="1"/>
          <p:nvPr/>
        </p:nvSpPr>
        <p:spPr>
          <a:xfrm>
            <a:off x="868680" y="233172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Identificación con e.firma y aceptación del aviso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 de existencia sin altas duplicadas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Inicio y reanudación del expediente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Datos Generales con teléfonos y cédula fiscal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Tipo de participación y partidas CUCoP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Punto de continuación hacia Contactos</a:t>
            </a:r>
            <a:endParaRPr lang="en-US" sz="1600" dirty="0"/>
          </a:p>
        </p:txBody>
      </p:sp>
      <p:sp>
        <p:nvSpPr>
          <p:cNvPr id="8" name="Fuera de alcance"/>
          <p:cNvSpPr/>
          <p:nvPr/>
        </p:nvSpPr>
        <p:spPr>
          <a:xfrm>
            <a:off x="6583680" y="1371600"/>
            <a:ext cx="502920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era de alcance círculo"/>
          <p:cNvSpPr/>
          <p:nvPr/>
        </p:nvSpPr>
        <p:spPr>
          <a:xfrm>
            <a:off x="6858000" y="16002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Fuera de alcance icono" descr="Fuera de alc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646" y="1742846"/>
            <a:ext cx="263347" cy="263347"/>
          </a:xfrm>
          <a:prstGeom prst="rect">
            <a:avLst/>
          </a:prstGeom>
        </p:spPr>
      </p:pic>
      <p:sp>
        <p:nvSpPr>
          <p:cNvPr id="11" name="Encabezado fuera"/>
          <p:cNvSpPr txBox="1"/>
          <p:nvPr/>
        </p:nvSpPr>
        <p:spPr>
          <a:xfrm>
            <a:off x="758952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Fuera de alcance</a:t>
            </a:r>
            <a:endParaRPr lang="en-US" sz="2200" dirty="0"/>
          </a:p>
        </p:txBody>
      </p:sp>
      <p:sp>
        <p:nvSpPr>
          <p:cNvPr id="12" name="Lista fuera"/>
          <p:cNvSpPr txBox="1"/>
          <p:nvPr/>
        </p:nvSpPr>
        <p:spPr>
          <a:xfrm>
            <a:off x="6903720" y="233172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Implementación del componente de Firma Electrónica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Contactos, Domicilio fiscal, Cobertura y firma final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Finalización, clave del proveedor y acuse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Administración del catálogo de proveedores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hexagonal en cinco capas</a:t>
            </a:r>
            <a:endParaRPr lang="en-US" sz="3200" dirty="0"/>
          </a:p>
        </p:txBody>
      </p:sp>
      <p:sp>
        <p:nvSpPr>
          <p:cNvPr id="3" name="Capa Cliente HTTP"/>
          <p:cNvSpPr/>
          <p:nvPr/>
        </p:nvSpPr>
        <p:spPr>
          <a:xfrm>
            <a:off x="548640" y="146304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Nombre Cliente HTTP"/>
          <p:cNvSpPr txBox="1"/>
          <p:nvPr/>
        </p:nvSpPr>
        <p:spPr>
          <a:xfrm>
            <a:off x="54864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Cliente HTTP</a:t>
            </a:r>
            <a:endParaRPr lang="en-US" sz="1600" dirty="0"/>
          </a:p>
        </p:txBody>
      </p:sp>
      <p:sp>
        <p:nvSpPr>
          <p:cNvPr id="5" name="Contenido Cliente HTTP"/>
          <p:cNvSpPr/>
          <p:nvPr/>
        </p:nvSpPr>
        <p:spPr>
          <a:xfrm>
            <a:off x="548640" y="214884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etalle Cliente HTTP"/>
          <p:cNvSpPr txBox="1"/>
          <p:nvPr/>
        </p:nvSpPr>
        <p:spPr>
          <a:xfrm>
            <a:off x="685800" y="2286000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Frontend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Postman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Swagger UI</a:t>
            </a:r>
            <a:endParaRPr lang="en-US" sz="1400" dirty="0"/>
          </a:p>
        </p:txBody>
      </p:sp>
      <p:sp>
        <p:nvSpPr>
          <p:cNvPr id="7" name="Flecha 0"/>
          <p:cNvSpPr/>
          <p:nvPr/>
        </p:nvSpPr>
        <p:spPr>
          <a:xfrm>
            <a:off x="2551176" y="1627632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pa adapter.in"/>
          <p:cNvSpPr/>
          <p:nvPr/>
        </p:nvSpPr>
        <p:spPr>
          <a:xfrm>
            <a:off x="2825496" y="146304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ombre adapter.in"/>
          <p:cNvSpPr txBox="1"/>
          <p:nvPr/>
        </p:nvSpPr>
        <p:spPr>
          <a:xfrm>
            <a:off x="2825496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adapter.in</a:t>
            </a:r>
            <a:endParaRPr lang="en-US" sz="1600" dirty="0"/>
          </a:p>
        </p:txBody>
      </p:sp>
      <p:sp>
        <p:nvSpPr>
          <p:cNvPr id="10" name="Contenido adapter.in"/>
          <p:cNvSpPr/>
          <p:nvPr/>
        </p:nvSpPr>
        <p:spPr>
          <a:xfrm>
            <a:off x="2825496" y="214884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Detalle adapter.in"/>
          <p:cNvSpPr txBox="1"/>
          <p:nvPr/>
        </p:nvSpPr>
        <p:spPr>
          <a:xfrm>
            <a:off x="2962656" y="2286000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web: controladores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transaction: decoradores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scheduling: limpieza</a:t>
            </a:r>
            <a:endParaRPr lang="en-US" sz="1400" dirty="0"/>
          </a:p>
        </p:txBody>
      </p:sp>
      <p:sp>
        <p:nvSpPr>
          <p:cNvPr id="12" name="Flecha 1"/>
          <p:cNvSpPr/>
          <p:nvPr/>
        </p:nvSpPr>
        <p:spPr>
          <a:xfrm>
            <a:off x="4828032" y="1627632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Capa application"/>
          <p:cNvSpPr/>
          <p:nvPr/>
        </p:nvSpPr>
        <p:spPr>
          <a:xfrm>
            <a:off x="5102352" y="146304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ombre application"/>
          <p:cNvSpPr txBox="1"/>
          <p:nvPr/>
        </p:nvSpPr>
        <p:spPr>
          <a:xfrm>
            <a:off x="5102352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15" name="Contenido application"/>
          <p:cNvSpPr/>
          <p:nvPr/>
        </p:nvSpPr>
        <p:spPr>
          <a:xfrm>
            <a:off x="5102352" y="214884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etalle application"/>
          <p:cNvSpPr txBox="1"/>
          <p:nvPr/>
        </p:nvSpPr>
        <p:spPr>
          <a:xfrm>
            <a:off x="5239512" y="2286000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port.in: casos de uso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service: orquestación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port.out: capacidades</a:t>
            </a:r>
            <a:endParaRPr lang="en-US" sz="1400" dirty="0"/>
          </a:p>
        </p:txBody>
      </p:sp>
      <p:sp>
        <p:nvSpPr>
          <p:cNvPr id="17" name="Flecha 2"/>
          <p:cNvSpPr/>
          <p:nvPr/>
        </p:nvSpPr>
        <p:spPr>
          <a:xfrm>
            <a:off x="7104888" y="1627632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Capa domain"/>
          <p:cNvSpPr/>
          <p:nvPr/>
        </p:nvSpPr>
        <p:spPr>
          <a:xfrm>
            <a:off x="7379208" y="146304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ombre domain"/>
          <p:cNvSpPr txBox="1"/>
          <p:nvPr/>
        </p:nvSpPr>
        <p:spPr>
          <a:xfrm>
            <a:off x="7379208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domain</a:t>
            </a:r>
            <a:endParaRPr lang="en-US" sz="1600" dirty="0"/>
          </a:p>
        </p:txBody>
      </p:sp>
      <p:sp>
        <p:nvSpPr>
          <p:cNvPr id="20" name="Contenido domain"/>
          <p:cNvSpPr/>
          <p:nvPr/>
        </p:nvSpPr>
        <p:spPr>
          <a:xfrm>
            <a:off x="7379208" y="214884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Detalle domain"/>
          <p:cNvSpPr txBox="1"/>
          <p:nvPr/>
        </p:nvSpPr>
        <p:spPr>
          <a:xfrm>
            <a:off x="7516368" y="2286000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agregado del expediente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valores y reglas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INV-01 a INV-39</a:t>
            </a:r>
            <a:endParaRPr lang="en-US" sz="1400" dirty="0"/>
          </a:p>
        </p:txBody>
      </p:sp>
      <p:sp>
        <p:nvSpPr>
          <p:cNvPr id="22" name="Flecha 3"/>
          <p:cNvSpPr/>
          <p:nvPr/>
        </p:nvSpPr>
        <p:spPr>
          <a:xfrm>
            <a:off x="9381744" y="1627632"/>
            <a:ext cx="237744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Capa adapter.out"/>
          <p:cNvSpPr/>
          <p:nvPr/>
        </p:nvSpPr>
        <p:spPr>
          <a:xfrm>
            <a:off x="9656064" y="1463040"/>
            <a:ext cx="196596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Nombre adapter.out"/>
          <p:cNvSpPr txBox="1"/>
          <p:nvPr/>
        </p:nvSpPr>
        <p:spPr>
          <a:xfrm>
            <a:off x="9656064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adapter.out</a:t>
            </a:r>
            <a:endParaRPr lang="en-US" sz="1600" dirty="0"/>
          </a:p>
        </p:txBody>
      </p:sp>
      <p:sp>
        <p:nvSpPr>
          <p:cNvPr id="25" name="Contenido adapter.out"/>
          <p:cNvSpPr/>
          <p:nvPr/>
        </p:nvSpPr>
        <p:spPr>
          <a:xfrm>
            <a:off x="9656064" y="2148840"/>
            <a:ext cx="1965960" cy="20116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Detalle adapter.out"/>
          <p:cNvSpPr txBox="1"/>
          <p:nvPr/>
        </p:nvSpPr>
        <p:spPr>
          <a:xfrm>
            <a:off x="9793224" y="2286000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persistencia y catálogos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firma SHA256withRSA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documentos en volumen</a:t>
            </a:r>
            <a:endParaRPr lang="en-US" sz="1400" dirty="0"/>
          </a:p>
        </p:txBody>
      </p:sp>
      <p:sp>
        <p:nvSpPr>
          <p:cNvPr id="27" name="Java 25 y Spring Boot círculo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Java 25 y Spring Boot icono" descr="Java 25 y Spring Bo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74" y="4680814"/>
            <a:ext cx="285293" cy="285293"/>
          </a:xfrm>
          <a:prstGeom prst="rect">
            <a:avLst/>
          </a:prstGeom>
        </p:spPr>
      </p:pic>
      <p:sp>
        <p:nvSpPr>
          <p:cNvPr id="29" name="Hecho 0"/>
          <p:cNvSpPr txBox="1"/>
          <p:nvPr/>
        </p:nvSpPr>
        <p:spPr>
          <a:xfrm>
            <a:off x="128016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Java 25 y Spring Boot</a:t>
            </a:r>
            <a:endParaRPr lang="en-US" sz="1600" dirty="0"/>
          </a:p>
        </p:txBody>
      </p:sp>
      <p:sp>
        <p:nvSpPr>
          <p:cNvPr id="30" name="Detalle hecho 0"/>
          <p:cNvSpPr txBox="1"/>
          <p:nvPr/>
        </p:nvSpPr>
        <p:spPr>
          <a:xfrm>
            <a:off x="1280160" y="4892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Spring Boot 4.1; dominio y aplicación en Java puro</a:t>
            </a:r>
            <a:endParaRPr lang="en-US" sz="1400" dirty="0"/>
          </a:p>
        </p:txBody>
      </p:sp>
      <p:sp>
        <p:nvSpPr>
          <p:cNvPr id="31" name="PostgreSQL 17 y Flyway círculo"/>
          <p:cNvSpPr/>
          <p:nvPr/>
        </p:nvSpPr>
        <p:spPr>
          <a:xfrm>
            <a:off x="4297680" y="4526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PostgreSQL 17 y Flyway icono" descr="PostgreSQL 17 y Fly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14" y="4680814"/>
            <a:ext cx="285293" cy="285293"/>
          </a:xfrm>
          <a:prstGeom prst="rect">
            <a:avLst/>
          </a:prstGeom>
        </p:spPr>
      </p:pic>
      <p:sp>
        <p:nvSpPr>
          <p:cNvPr id="33" name="Hecho 1"/>
          <p:cNvSpPr txBox="1"/>
          <p:nvPr/>
        </p:nvSpPr>
        <p:spPr>
          <a:xfrm>
            <a:off x="502920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 17 y Flyway</a:t>
            </a:r>
            <a:endParaRPr lang="en-US" sz="1600" dirty="0"/>
          </a:p>
        </p:txBody>
      </p:sp>
      <p:sp>
        <p:nvSpPr>
          <p:cNvPr id="34" name="Detalle hecho 1"/>
          <p:cNvSpPr txBox="1"/>
          <p:nvPr/>
        </p:nvSpPr>
        <p:spPr>
          <a:xfrm>
            <a:off x="5029200" y="4892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Migraciones V1 a V18; Testcontainers en las pruebas</a:t>
            </a:r>
            <a:endParaRPr lang="en-US" sz="1400" dirty="0"/>
          </a:p>
        </p:txBody>
      </p:sp>
      <p:sp>
        <p:nvSpPr>
          <p:cNvPr id="35" name="JWT de 60 minutos círculo"/>
          <p:cNvSpPr/>
          <p:nvPr/>
        </p:nvSpPr>
        <p:spPr>
          <a:xfrm>
            <a:off x="8046720" y="45262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JWT de 60 minutos icono" descr="JWT de 60 minu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254" y="4680814"/>
            <a:ext cx="285293" cy="285293"/>
          </a:xfrm>
          <a:prstGeom prst="rect">
            <a:avLst/>
          </a:prstGeom>
        </p:spPr>
      </p:pic>
      <p:sp>
        <p:nvSpPr>
          <p:cNvPr id="37" name="Hecho 2"/>
          <p:cNvSpPr txBox="1"/>
          <p:nvPr/>
        </p:nvSpPr>
        <p:spPr>
          <a:xfrm>
            <a:off x="8778240" y="4498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JWT de 60 minutos</a:t>
            </a:r>
            <a:endParaRPr lang="en-US" sz="1600" dirty="0"/>
          </a:p>
        </p:txBody>
      </p:sp>
      <p:sp>
        <p:nvSpPr>
          <p:cNvPr id="38" name="Detalle hecho 2"/>
          <p:cNvSpPr txBox="1"/>
          <p:nvPr/>
        </p:nvSpPr>
        <p:spPr>
          <a:xfrm>
            <a:off x="8778240" y="4892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Contexto por jti en la base (ADR-0015)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 8 RF implementados y probados</a:t>
            </a:r>
            <a:endParaRPr lang="en-US" sz="3200" dirty="0"/>
          </a:p>
        </p:txBody>
      </p:sp>
      <p:graphicFrame>
        <p:nvGraphicFramePr>
          <p:cNvPr id="6" name="Tabla de requerimi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514600"/>
                <a:gridCol w="1737360"/>
                <a:gridCol w="41148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Historias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Operaciones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 prueba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Identificar con e.firma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identifyApplicant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19/19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Verificar existencia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checkRegistrationExistence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Aceptar el aviso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getRegistrationNotice, acceptRegistrationNotice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6/6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Iniciar expediente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startSupplierRegistration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6/6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Capturar por secciones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US06, US08 a US11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saveGeneralData, 3 de cédula, 10 catálogos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45/45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Reanudar expediente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resumeSupplierRegistration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10/10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RF-REG-07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Finalizar el registro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US07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Etapa posterior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RF-REG-08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Participación y CUCoP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saveCucopParticipation, getCucopCatalog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5/5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C3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uente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Fuente: docs/entrega/README.md §4 y matriz de trazabilidad (spec_sync).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646 pruebas en verde, en todas las capas</a:t>
            </a:r>
            <a:endParaRPr lang="en-US" sz="3200" dirty="0"/>
          </a:p>
        </p:txBody>
      </p:sp>
      <p:graphicFrame>
        <p:nvGraphicFramePr>
          <p:cNvPr id="3" name="Gráfica pruebas por capa" descr=""/>
          <p:cNvGraphicFramePr/>
          <p:nvPr/>
        </p:nvGraphicFramePr>
        <p:xfrm>
          <a:off x="548640" y="137160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ato clases de prueba"/>
          <p:cNvSpPr/>
          <p:nvPr/>
        </p:nvSpPr>
        <p:spPr>
          <a:xfrm>
            <a:off x="8412480" y="1463040"/>
            <a:ext cx="3200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clases de prueba"/>
          <p:cNvSpPr txBox="1"/>
          <p:nvPr/>
        </p:nvSpPr>
        <p:spPr>
          <a:xfrm>
            <a:off x="8641080" y="1572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600" dirty="0"/>
          </a:p>
        </p:txBody>
      </p:sp>
      <p:sp>
        <p:nvSpPr>
          <p:cNvPr id="6" name="Etiqueta clases de prueba"/>
          <p:cNvSpPr txBox="1"/>
          <p:nvPr/>
        </p:nvSpPr>
        <p:spPr>
          <a:xfrm>
            <a:off x="8641080" y="2194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clases de prueba</a:t>
            </a:r>
            <a:endParaRPr lang="en-US" sz="1400" dirty="0"/>
          </a:p>
        </p:txBody>
      </p:sp>
      <p:sp>
        <p:nvSpPr>
          <p:cNvPr id="7" name="Dato fallos y errores"/>
          <p:cNvSpPr/>
          <p:nvPr/>
        </p:nvSpPr>
        <p:spPr>
          <a:xfrm>
            <a:off x="8412480" y="2926080"/>
            <a:ext cx="3200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fallos y errores"/>
          <p:cNvSpPr txBox="1"/>
          <p:nvPr/>
        </p:nvSpPr>
        <p:spPr>
          <a:xfrm>
            <a:off x="8641080" y="30358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Etiqueta fallos y errores"/>
          <p:cNvSpPr txBox="1"/>
          <p:nvPr/>
        </p:nvSpPr>
        <p:spPr>
          <a:xfrm>
            <a:off x="864108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fallos y errores</a:t>
            </a:r>
            <a:endParaRPr lang="en-US" sz="1400" dirty="0"/>
          </a:p>
        </p:txBody>
      </p:sp>
      <p:sp>
        <p:nvSpPr>
          <p:cNvPr id="10" name="Dato desechable con Testcontainers en cada ejecución"/>
          <p:cNvSpPr/>
          <p:nvPr/>
        </p:nvSpPr>
        <p:spPr>
          <a:xfrm>
            <a:off x="8412480" y="4389120"/>
            <a:ext cx="3200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fra desechable con Testcontainers en cada ejecución"/>
          <p:cNvSpPr txBox="1"/>
          <p:nvPr/>
        </p:nvSpPr>
        <p:spPr>
          <a:xfrm>
            <a:off x="8641080" y="44988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17</a:t>
            </a:r>
            <a:endParaRPr lang="en-US" sz="2400" dirty="0"/>
          </a:p>
        </p:txBody>
      </p:sp>
      <p:sp>
        <p:nvSpPr>
          <p:cNvPr id="12" name="Etiqueta desechable con Testcontainers en cada ejecución"/>
          <p:cNvSpPr txBox="1"/>
          <p:nvPr/>
        </p:nvSpPr>
        <p:spPr>
          <a:xfrm>
            <a:off x="8641080" y="5120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desechable con Testcontainers en cada ejecución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criterio de backend tiene prueba</a:t>
            </a:r>
            <a:endParaRPr lang="en-US" sz="3200" dirty="0"/>
          </a:p>
        </p:txBody>
      </p:sp>
      <p:graphicFrame>
        <p:nvGraphicFramePr>
          <p:cNvPr id="3" name="Gráfica cobertura por historia" descr=""/>
          <p:cNvGraphicFramePr/>
          <p:nvPr/>
        </p:nvGraphicFramePr>
        <p:xfrm>
          <a:off x="548640" y="137160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otal criterios en total"/>
          <p:cNvSpPr/>
          <p:nvPr/>
        </p:nvSpPr>
        <p:spPr>
          <a:xfrm>
            <a:off x="8686800" y="1463040"/>
            <a:ext cx="29260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fra criterios en total"/>
          <p:cNvSpPr txBox="1"/>
          <p:nvPr/>
        </p:nvSpPr>
        <p:spPr>
          <a:xfrm>
            <a:off x="8915400" y="1554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600" dirty="0"/>
          </a:p>
        </p:txBody>
      </p:sp>
      <p:sp>
        <p:nvSpPr>
          <p:cNvPr id="6" name="Etiqueta criterios en total"/>
          <p:cNvSpPr txBox="1"/>
          <p:nvPr/>
        </p:nvSpPr>
        <p:spPr>
          <a:xfrm>
            <a:off x="891540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criterios en total</a:t>
            </a:r>
            <a:endParaRPr lang="en-US" sz="1400" dirty="0"/>
          </a:p>
        </p:txBody>
      </p:sp>
      <p:sp>
        <p:nvSpPr>
          <p:cNvPr id="7" name="Total verificables en backend"/>
          <p:cNvSpPr/>
          <p:nvPr/>
        </p:nvSpPr>
        <p:spPr>
          <a:xfrm>
            <a:off x="8686800" y="2880360"/>
            <a:ext cx="29260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fra verificables en backend"/>
          <p:cNvSpPr txBox="1"/>
          <p:nvPr/>
        </p:nvSpPr>
        <p:spPr>
          <a:xfrm>
            <a:off x="891540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3600" dirty="0"/>
          </a:p>
        </p:txBody>
      </p:sp>
      <p:sp>
        <p:nvSpPr>
          <p:cNvPr id="9" name="Etiqueta verificables en backend"/>
          <p:cNvSpPr txBox="1"/>
          <p:nvPr/>
        </p:nvSpPr>
        <p:spPr>
          <a:xfrm>
            <a:off x="891540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verificables en backend</a:t>
            </a:r>
            <a:endParaRPr lang="en-US" sz="1400" dirty="0"/>
          </a:p>
        </p:txBody>
      </p:sp>
      <p:sp>
        <p:nvSpPr>
          <p:cNvPr id="10" name="Total con al menos una prueba"/>
          <p:cNvSpPr/>
          <p:nvPr/>
        </p:nvSpPr>
        <p:spPr>
          <a:xfrm>
            <a:off x="8686800" y="4297680"/>
            <a:ext cx="29260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fra con al menos una prueba"/>
          <p:cNvSpPr txBox="1"/>
          <p:nvPr/>
        </p:nvSpPr>
        <p:spPr>
          <a:xfrm>
            <a:off x="8915400" y="4389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91/91</a:t>
            </a:r>
            <a:endParaRPr lang="en-US" sz="3600" dirty="0"/>
          </a:p>
        </p:txBody>
      </p:sp>
      <p:sp>
        <p:nvSpPr>
          <p:cNvPr id="12" name="Etiqueta con al menos una prueba"/>
          <p:cNvSpPr txBox="1"/>
          <p:nvPr/>
        </p:nvSpPr>
        <p:spPr>
          <a:xfrm>
            <a:off x="8915400" y="5029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 al menos una prueba</a:t>
            </a:r>
            <a:endParaRPr lang="en-US" sz="1400" dirty="0"/>
          </a:p>
        </p:txBody>
      </p:sp>
      <p:sp>
        <p:nvSpPr>
          <p:cNvPr id="13" name="Nota criterios"/>
          <p:cNvSpPr txBox="1"/>
          <p:nvPr/>
        </p:nvSpPr>
        <p:spPr>
          <a:xfrm>
            <a:off x="8686800" y="5760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Los 45 restantes son de interfaz, integración externa o etapa posterior (US07).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Development: primero las specs</a:t>
            </a:r>
            <a:endParaRPr lang="en-US" sz="3200" dirty="0"/>
          </a:p>
        </p:txBody>
      </p:sp>
      <p:sp>
        <p:nvSpPr>
          <p:cNvPr id="3" name="Paso 1"/>
          <p:cNvSpPr/>
          <p:nvPr/>
        </p:nvSpPr>
        <p:spPr>
          <a:xfrm>
            <a:off x="98298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Número 1"/>
          <p:cNvSpPr txBox="1"/>
          <p:nvPr/>
        </p:nvSpPr>
        <p:spPr>
          <a:xfrm>
            <a:off x="9829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Conector 0"/>
          <p:cNvSpPr/>
          <p:nvPr/>
        </p:nvSpPr>
        <p:spPr>
          <a:xfrm>
            <a:off x="1851660" y="1965960"/>
            <a:ext cx="960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6" name="Tarjeta Especificar"/>
          <p:cNvSpPr/>
          <p:nvPr/>
        </p:nvSpPr>
        <p:spPr>
          <a:xfrm>
            <a:off x="548640" y="265176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mbre Especificar"/>
          <p:cNvSpPr txBox="1"/>
          <p:nvPr/>
        </p:nvSpPr>
        <p:spPr>
          <a:xfrm>
            <a:off x="64008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Especificar</a:t>
            </a:r>
            <a:endParaRPr lang="en-US" sz="1500" dirty="0"/>
          </a:p>
        </p:txBody>
      </p:sp>
      <p:sp>
        <p:nvSpPr>
          <p:cNvPr id="8" name="Prefijo Especificar"/>
          <p:cNvSpPr txBox="1"/>
          <p:nvPr/>
        </p:nvSpPr>
        <p:spPr>
          <a:xfrm>
            <a:off x="68580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400" dirty="0"/>
          </a:p>
        </p:txBody>
      </p:sp>
      <p:sp>
        <p:nvSpPr>
          <p:cNvPr id="9" name="Descripción Especificar"/>
          <p:cNvSpPr txBox="1"/>
          <p:nvPr/>
        </p:nvSpPr>
        <p:spPr>
          <a:xfrm>
            <a:off x="685800" y="37033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Visión, RF, historias y criterios</a:t>
            </a:r>
            <a:endParaRPr lang="en-US" sz="1400" dirty="0"/>
          </a:p>
        </p:txBody>
      </p:sp>
      <p:sp>
        <p:nvSpPr>
          <p:cNvPr id="10" name="Paso 2"/>
          <p:cNvSpPr/>
          <p:nvPr/>
        </p:nvSpPr>
        <p:spPr>
          <a:xfrm>
            <a:off x="2857500" y="15544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Número 2"/>
          <p:cNvSpPr txBox="1"/>
          <p:nvPr/>
        </p:nvSpPr>
        <p:spPr>
          <a:xfrm>
            <a:off x="28575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Conector 1"/>
          <p:cNvSpPr/>
          <p:nvPr/>
        </p:nvSpPr>
        <p:spPr>
          <a:xfrm>
            <a:off x="3726180" y="1965960"/>
            <a:ext cx="960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3" name="Tarjeta Diseñar"/>
          <p:cNvSpPr/>
          <p:nvPr/>
        </p:nvSpPr>
        <p:spPr>
          <a:xfrm>
            <a:off x="2423160" y="265176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ombre Diseñar"/>
          <p:cNvSpPr txBox="1"/>
          <p:nvPr/>
        </p:nvSpPr>
        <p:spPr>
          <a:xfrm>
            <a:off x="251460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Diseñar</a:t>
            </a:r>
            <a:endParaRPr lang="en-US" sz="1500" dirty="0"/>
          </a:p>
        </p:txBody>
      </p:sp>
      <p:sp>
        <p:nvSpPr>
          <p:cNvPr id="15" name="Prefijo Diseñar"/>
          <p:cNvSpPr txBox="1"/>
          <p:nvPr/>
        </p:nvSpPr>
        <p:spPr>
          <a:xfrm>
            <a:off x="256032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design:</a:t>
            </a:r>
            <a:endParaRPr lang="en-US" sz="1400" dirty="0"/>
          </a:p>
        </p:txBody>
      </p:sp>
      <p:sp>
        <p:nvSpPr>
          <p:cNvPr id="16" name="Descripción Diseñar"/>
          <p:cNvSpPr txBox="1"/>
          <p:nvPr/>
        </p:nvSpPr>
        <p:spPr>
          <a:xfrm>
            <a:off x="2560320" y="37033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Modelo, INV, arquitectura y ADR</a:t>
            </a:r>
            <a:endParaRPr lang="en-US" sz="1400" dirty="0"/>
          </a:p>
        </p:txBody>
      </p:sp>
      <p:sp>
        <p:nvSpPr>
          <p:cNvPr id="17" name="Paso 3"/>
          <p:cNvSpPr/>
          <p:nvPr/>
        </p:nvSpPr>
        <p:spPr>
          <a:xfrm>
            <a:off x="473202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Número 3"/>
          <p:cNvSpPr txBox="1"/>
          <p:nvPr/>
        </p:nvSpPr>
        <p:spPr>
          <a:xfrm>
            <a:off x="47320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Conector 2"/>
          <p:cNvSpPr/>
          <p:nvPr/>
        </p:nvSpPr>
        <p:spPr>
          <a:xfrm>
            <a:off x="5600700" y="1965960"/>
            <a:ext cx="960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0" name="Tarjeta Contrato"/>
          <p:cNvSpPr/>
          <p:nvPr/>
        </p:nvSpPr>
        <p:spPr>
          <a:xfrm>
            <a:off x="4297680" y="265176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ombre Contrato"/>
          <p:cNvSpPr txBox="1"/>
          <p:nvPr/>
        </p:nvSpPr>
        <p:spPr>
          <a:xfrm>
            <a:off x="438912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Contrato</a:t>
            </a:r>
            <a:endParaRPr lang="en-US" sz="1500" dirty="0"/>
          </a:p>
        </p:txBody>
      </p:sp>
      <p:sp>
        <p:nvSpPr>
          <p:cNvPr id="22" name="Prefijo Contrato"/>
          <p:cNvSpPr txBox="1"/>
          <p:nvPr/>
        </p:nvSpPr>
        <p:spPr>
          <a:xfrm>
            <a:off x="443484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</a:t>
            </a:r>
            <a:endParaRPr lang="en-US" sz="1400" dirty="0"/>
          </a:p>
        </p:txBody>
      </p:sp>
      <p:sp>
        <p:nvSpPr>
          <p:cNvPr id="23" name="Descripción Contrato"/>
          <p:cNvSpPr txBox="1"/>
          <p:nvPr/>
        </p:nvSpPr>
        <p:spPr>
          <a:xfrm>
            <a:off x="4434840" y="37033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OpenAPI READY; Maven genera la API</a:t>
            </a:r>
            <a:endParaRPr lang="en-US" sz="1400" dirty="0"/>
          </a:p>
        </p:txBody>
      </p:sp>
      <p:sp>
        <p:nvSpPr>
          <p:cNvPr id="24" name="Paso 4"/>
          <p:cNvSpPr/>
          <p:nvPr/>
        </p:nvSpPr>
        <p:spPr>
          <a:xfrm>
            <a:off x="6606540" y="15544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Número 4"/>
          <p:cNvSpPr txBox="1"/>
          <p:nvPr/>
        </p:nvSpPr>
        <p:spPr>
          <a:xfrm>
            <a:off x="66065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Conector 3"/>
          <p:cNvSpPr/>
          <p:nvPr/>
        </p:nvSpPr>
        <p:spPr>
          <a:xfrm>
            <a:off x="7475220" y="1965960"/>
            <a:ext cx="960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7" name="Tarjeta Implementar"/>
          <p:cNvSpPr/>
          <p:nvPr/>
        </p:nvSpPr>
        <p:spPr>
          <a:xfrm>
            <a:off x="6172200" y="265176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ombre Implementar"/>
          <p:cNvSpPr txBox="1"/>
          <p:nvPr/>
        </p:nvSpPr>
        <p:spPr>
          <a:xfrm>
            <a:off x="626364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Implementar</a:t>
            </a:r>
            <a:endParaRPr lang="en-US" sz="1500" dirty="0"/>
          </a:p>
        </p:txBody>
      </p:sp>
      <p:sp>
        <p:nvSpPr>
          <p:cNvPr id="29" name="Prefijo Implementar"/>
          <p:cNvSpPr txBox="1"/>
          <p:nvPr/>
        </p:nvSpPr>
        <p:spPr>
          <a:xfrm>
            <a:off x="630936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</a:t>
            </a:r>
            <a:endParaRPr lang="en-US" sz="1400" dirty="0"/>
          </a:p>
        </p:txBody>
      </p:sp>
      <p:sp>
        <p:nvSpPr>
          <p:cNvPr id="30" name="Descripción Implementar"/>
          <p:cNvSpPr txBox="1"/>
          <p:nvPr/>
        </p:nvSpPr>
        <p:spPr>
          <a:xfrm>
            <a:off x="6309360" y="37033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/implementar con pruebas USxx_CAyyy</a:t>
            </a:r>
            <a:endParaRPr lang="en-US" sz="1400" dirty="0"/>
          </a:p>
        </p:txBody>
      </p:sp>
      <p:sp>
        <p:nvSpPr>
          <p:cNvPr id="31" name="Paso 5"/>
          <p:cNvSpPr/>
          <p:nvPr/>
        </p:nvSpPr>
        <p:spPr>
          <a:xfrm>
            <a:off x="848106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Número 5"/>
          <p:cNvSpPr txBox="1"/>
          <p:nvPr/>
        </p:nvSpPr>
        <p:spPr>
          <a:xfrm>
            <a:off x="84810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Conector 4"/>
          <p:cNvSpPr/>
          <p:nvPr/>
        </p:nvSpPr>
        <p:spPr>
          <a:xfrm>
            <a:off x="9349740" y="1965960"/>
            <a:ext cx="960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4" name="Tarjeta Verificar"/>
          <p:cNvSpPr/>
          <p:nvPr/>
        </p:nvSpPr>
        <p:spPr>
          <a:xfrm>
            <a:off x="8046720" y="265176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Nombre Verificar"/>
          <p:cNvSpPr txBox="1"/>
          <p:nvPr/>
        </p:nvSpPr>
        <p:spPr>
          <a:xfrm>
            <a:off x="813816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Verificar</a:t>
            </a:r>
            <a:endParaRPr lang="en-US" sz="1500" dirty="0"/>
          </a:p>
        </p:txBody>
      </p:sp>
      <p:sp>
        <p:nvSpPr>
          <p:cNvPr id="36" name="Prefijo Verificar"/>
          <p:cNvSpPr txBox="1"/>
          <p:nvPr/>
        </p:nvSpPr>
        <p:spPr>
          <a:xfrm>
            <a:off x="818388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· test:</a:t>
            </a:r>
            <a:endParaRPr lang="en-US" sz="1400" dirty="0"/>
          </a:p>
        </p:txBody>
      </p:sp>
      <p:sp>
        <p:nvSpPr>
          <p:cNvPr id="37" name="Descripción Verificar"/>
          <p:cNvSpPr txBox="1"/>
          <p:nvPr/>
        </p:nvSpPr>
        <p:spPr>
          <a:xfrm>
            <a:off x="8183880" y="37033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/sincronizar, /diagramas, /cambio-spec</a:t>
            </a:r>
            <a:endParaRPr lang="en-US" sz="1400" dirty="0"/>
          </a:p>
        </p:txBody>
      </p:sp>
      <p:sp>
        <p:nvSpPr>
          <p:cNvPr id="38" name="Paso 6"/>
          <p:cNvSpPr/>
          <p:nvPr/>
        </p:nvSpPr>
        <p:spPr>
          <a:xfrm>
            <a:off x="10355580" y="155448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Número 6"/>
          <p:cNvSpPr txBox="1"/>
          <p:nvPr/>
        </p:nvSpPr>
        <p:spPr>
          <a:xfrm>
            <a:off x="103555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40" name="Tarjeta Documentar"/>
          <p:cNvSpPr/>
          <p:nvPr/>
        </p:nvSpPr>
        <p:spPr>
          <a:xfrm>
            <a:off x="9921240" y="2651760"/>
            <a:ext cx="1691640" cy="2651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Nombre Documentar"/>
          <p:cNvSpPr txBox="1"/>
          <p:nvPr/>
        </p:nvSpPr>
        <p:spPr>
          <a:xfrm>
            <a:off x="10012680" y="2788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Documentar</a:t>
            </a:r>
            <a:endParaRPr lang="en-US" sz="1500" dirty="0"/>
          </a:p>
        </p:txBody>
      </p:sp>
      <p:sp>
        <p:nvSpPr>
          <p:cNvPr id="42" name="Prefijo Documentar"/>
          <p:cNvSpPr txBox="1"/>
          <p:nvPr/>
        </p:nvSpPr>
        <p:spPr>
          <a:xfrm>
            <a:off x="10058400" y="3246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1400" dirty="0"/>
          </a:p>
        </p:txBody>
      </p:sp>
      <p:sp>
        <p:nvSpPr>
          <p:cNvPr id="43" name="Descripción Documentar"/>
          <p:cNvSpPr txBox="1"/>
          <p:nvPr/>
        </p:nvSpPr>
        <p:spPr>
          <a:xfrm>
            <a:off x="10058400" y="370332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/documentar y la entrega final</a:t>
            </a:r>
            <a:endParaRPr lang="en-US" sz="1400" dirty="0"/>
          </a:p>
        </p:txBody>
      </p:sp>
      <p:sp>
        <p:nvSpPr>
          <p:cNvPr id="44" name="Regla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Si la spec no alcanza, se detiene el trabajo y se propone el cambio a la spec antes de continuar (CLAUDE.md).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Historial: 117 commits y 38 PR fusionados</a:t>
            </a:r>
            <a:endParaRPr lang="en-US" sz="3200" dirty="0"/>
          </a:p>
        </p:txBody>
      </p:sp>
      <p:graphicFrame>
        <p:nvGraphicFramePr>
          <p:cNvPr id="3" name="Gráfica commits por prefijo" descr=""/>
          <p:cNvGraphicFramePr/>
          <p:nvPr/>
        </p:nvGraphicFramePr>
        <p:xfrm>
          <a:off x="548640" y="137160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pecs primero círculo"/>
          <p:cNvSpPr/>
          <p:nvPr/>
        </p:nvSpPr>
        <p:spPr>
          <a:xfrm>
            <a:off x="7863840" y="14630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pecs primero icono" descr="Specs primer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374" y="1617574"/>
            <a:ext cx="285293" cy="285293"/>
          </a:xfrm>
          <a:prstGeom prst="rect">
            <a:avLst/>
          </a:prstGeom>
        </p:spPr>
      </p:pic>
      <p:sp>
        <p:nvSpPr>
          <p:cNvPr id="6" name="Lectura 0"/>
          <p:cNvSpPr txBox="1"/>
          <p:nvPr/>
        </p:nvSpPr>
        <p:spPr>
          <a:xfrm>
            <a:off x="859536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Specs primero</a:t>
            </a:r>
            <a:endParaRPr lang="en-US" sz="1600" dirty="0"/>
          </a:p>
        </p:txBody>
      </p:sp>
      <p:sp>
        <p:nvSpPr>
          <p:cNvPr id="7" name="Detalle lectura 0"/>
          <p:cNvSpPr txBox="1"/>
          <p:nvPr/>
        </p:nvSpPr>
        <p:spPr>
          <a:xfrm>
            <a:off x="85953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spec: y design: suman 43 commits, más que feat: y fix: juntos (34)</a:t>
            </a:r>
            <a:endParaRPr lang="en-US" sz="1400" dirty="0"/>
          </a:p>
        </p:txBody>
      </p:sp>
      <p:sp>
        <p:nvSpPr>
          <p:cNvPr id="8" name="Un tipo por commit círculo"/>
          <p:cNvSpPr/>
          <p:nvPr/>
        </p:nvSpPr>
        <p:spPr>
          <a:xfrm>
            <a:off x="786384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Un tipo por commit icono" descr="Un tipo por comm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374" y="3080614"/>
            <a:ext cx="285293" cy="285293"/>
          </a:xfrm>
          <a:prstGeom prst="rect">
            <a:avLst/>
          </a:prstGeom>
        </p:spPr>
      </p:pic>
      <p:sp>
        <p:nvSpPr>
          <p:cNvPr id="10" name="Lectura 1"/>
          <p:cNvSpPr txBox="1"/>
          <p:nvPr/>
        </p:nvSpPr>
        <p:spPr>
          <a:xfrm>
            <a:off x="8595360" y="2907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tipo por commit</a:t>
            </a:r>
            <a:endParaRPr lang="en-US" sz="1600" dirty="0"/>
          </a:p>
        </p:txBody>
      </p:sp>
      <p:sp>
        <p:nvSpPr>
          <p:cNvPr id="11" name="Detalle lectura 1"/>
          <p:cNvSpPr txBox="1"/>
          <p:nvPr/>
        </p:nvSpPr>
        <p:spPr>
          <a:xfrm>
            <a:off x="8595360" y="3291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Specs, contrato, código y documentación van en commits separados (CLAUDE.md)</a:t>
            </a:r>
            <a:endParaRPr lang="en-US" sz="1400" dirty="0"/>
          </a:p>
        </p:txBody>
      </p:sp>
      <p:sp>
        <p:nvSpPr>
          <p:cNvPr id="12" name="Del 19 al 25 de octubre círculo"/>
          <p:cNvSpPr/>
          <p:nvPr/>
        </p:nvSpPr>
        <p:spPr>
          <a:xfrm>
            <a:off x="7863840" y="43891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Del 19 al 25 de octubre icono" descr="Del 19 al 25 de octub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8374" y="4543654"/>
            <a:ext cx="285293" cy="285293"/>
          </a:xfrm>
          <a:prstGeom prst="rect">
            <a:avLst/>
          </a:prstGeom>
        </p:spPr>
      </p:pic>
      <p:sp>
        <p:nvSpPr>
          <p:cNvPr id="14" name="Lectura 2"/>
          <p:cNvSpPr txBox="1"/>
          <p:nvPr/>
        </p:nvSpPr>
        <p:spPr>
          <a:xfrm>
            <a:off x="859536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Del 19 al 25 de octubre</a:t>
            </a:r>
            <a:endParaRPr lang="en-US" sz="1600" dirty="0"/>
          </a:p>
        </p:txBody>
      </p:sp>
      <p:sp>
        <p:nvSpPr>
          <p:cNvPr id="15" name="Detalle lectura 2"/>
          <p:cNvSpPr txBox="1"/>
          <p:nvPr/>
        </p:nvSpPr>
        <p:spPr>
          <a:xfrm>
            <a:off x="8595360" y="4754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Siete días desde la visión hasta la entrega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Cierre: 8 PR alinearon specs, código y docs</a:t>
            </a:r>
            <a:endParaRPr lang="en-US" sz="3200" dirty="0"/>
          </a:p>
        </p:txBody>
      </p:sp>
      <p:sp>
        <p:nvSpPr>
          <p:cNvPr id="3" name="Línea de tiempo"/>
          <p:cNvSpPr/>
          <p:nvPr/>
        </p:nvSpPr>
        <p:spPr>
          <a:xfrm>
            <a:off x="868680" y="2926080"/>
            <a:ext cx="104241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Hito #32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PR #32"/>
          <p:cNvSpPr txBox="1"/>
          <p:nvPr/>
        </p:nvSpPr>
        <p:spPr>
          <a:xfrm>
            <a:off x="45720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#32</a:t>
            </a:r>
            <a:endParaRPr lang="en-US" sz="1600" dirty="0"/>
          </a:p>
        </p:txBody>
      </p:sp>
      <p:sp>
        <p:nvSpPr>
          <p:cNvPr id="6" name="Tipo #32"/>
          <p:cNvSpPr txBox="1"/>
          <p:nvPr/>
        </p:nvSpPr>
        <p:spPr>
          <a:xfrm>
            <a:off x="45720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design:</a:t>
            </a:r>
            <a:endParaRPr lang="en-US" sz="1200" dirty="0"/>
          </a:p>
        </p:txBody>
      </p:sp>
      <p:sp>
        <p:nvSpPr>
          <p:cNvPr id="7" name="Descripción #32"/>
          <p:cNvSpPr txBox="1"/>
          <p:nvPr/>
        </p:nvSpPr>
        <p:spPr>
          <a:xfrm>
            <a:off x="45720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Diagramas sincronizados con la implementación</a:t>
            </a:r>
            <a:endParaRPr lang="en-US" sz="1300" dirty="0"/>
          </a:p>
        </p:txBody>
      </p:sp>
      <p:sp>
        <p:nvSpPr>
          <p:cNvPr id="8" name="Hito #33"/>
          <p:cNvSpPr/>
          <p:nvPr/>
        </p:nvSpPr>
        <p:spPr>
          <a:xfrm>
            <a:off x="2045970" y="2606040"/>
            <a:ext cx="640080" cy="64008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PR #33"/>
          <p:cNvSpPr txBox="1"/>
          <p:nvPr/>
        </p:nvSpPr>
        <p:spPr>
          <a:xfrm>
            <a:off x="186309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#33</a:t>
            </a:r>
            <a:endParaRPr lang="en-US" sz="1600" dirty="0"/>
          </a:p>
        </p:txBody>
      </p:sp>
      <p:sp>
        <p:nvSpPr>
          <p:cNvPr id="10" name="Tipo #33"/>
          <p:cNvSpPr txBox="1"/>
          <p:nvPr/>
        </p:nvSpPr>
        <p:spPr>
          <a:xfrm>
            <a:off x="186309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1200" dirty="0"/>
          </a:p>
        </p:txBody>
      </p:sp>
      <p:sp>
        <p:nvSpPr>
          <p:cNvPr id="11" name="Descripción #33"/>
          <p:cNvSpPr txBox="1"/>
          <p:nvPr/>
        </p:nvSpPr>
        <p:spPr>
          <a:xfrm>
            <a:off x="186309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Secuencia por cada operación</a:t>
            </a:r>
            <a:endParaRPr lang="en-US" sz="1300" dirty="0"/>
          </a:p>
        </p:txBody>
      </p:sp>
      <p:sp>
        <p:nvSpPr>
          <p:cNvPr id="12" name="Hito #34"/>
          <p:cNvSpPr/>
          <p:nvPr/>
        </p:nvSpPr>
        <p:spPr>
          <a:xfrm>
            <a:off x="3451860" y="2606040"/>
            <a:ext cx="640080" cy="64008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PR #34"/>
          <p:cNvSpPr txBox="1"/>
          <p:nvPr/>
        </p:nvSpPr>
        <p:spPr>
          <a:xfrm>
            <a:off x="326898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#34</a:t>
            </a:r>
            <a:endParaRPr lang="en-US" sz="1600" dirty="0"/>
          </a:p>
        </p:txBody>
      </p:sp>
      <p:sp>
        <p:nvSpPr>
          <p:cNvPr id="14" name="Tipo #34"/>
          <p:cNvSpPr txBox="1"/>
          <p:nvPr/>
        </p:nvSpPr>
        <p:spPr>
          <a:xfrm>
            <a:off x="326898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</a:t>
            </a:r>
            <a:endParaRPr lang="en-US" sz="1200" dirty="0"/>
          </a:p>
        </p:txBody>
      </p:sp>
      <p:sp>
        <p:nvSpPr>
          <p:cNvPr id="15" name="Descripción #34"/>
          <p:cNvSpPr txBox="1"/>
          <p:nvPr/>
        </p:nvSpPr>
        <p:spPr>
          <a:xfrm>
            <a:off x="326898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Migración de catálogos y operaciones de la cédula</a:t>
            </a:r>
            <a:endParaRPr lang="en-US" sz="1300" dirty="0"/>
          </a:p>
        </p:txBody>
      </p:sp>
      <p:sp>
        <p:nvSpPr>
          <p:cNvPr id="16" name="Hito #35"/>
          <p:cNvSpPr/>
          <p:nvPr/>
        </p:nvSpPr>
        <p:spPr>
          <a:xfrm>
            <a:off x="4857750" y="2606040"/>
            <a:ext cx="640080" cy="64008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PR #35"/>
          <p:cNvSpPr txBox="1"/>
          <p:nvPr/>
        </p:nvSpPr>
        <p:spPr>
          <a:xfrm>
            <a:off x="467487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#35</a:t>
            </a:r>
            <a:endParaRPr lang="en-US" sz="1600" dirty="0"/>
          </a:p>
        </p:txBody>
      </p:sp>
      <p:sp>
        <p:nvSpPr>
          <p:cNvPr id="18" name="Tipo #35"/>
          <p:cNvSpPr txBox="1"/>
          <p:nvPr/>
        </p:nvSpPr>
        <p:spPr>
          <a:xfrm>
            <a:off x="467487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</a:t>
            </a:r>
            <a:endParaRPr lang="en-US" sz="1200" dirty="0"/>
          </a:p>
        </p:txBody>
      </p:sp>
      <p:sp>
        <p:nvSpPr>
          <p:cNvPr id="19" name="Descripción #35"/>
          <p:cNvSpPr txBox="1"/>
          <p:nvPr/>
        </p:nvSpPr>
        <p:spPr>
          <a:xfrm>
            <a:off x="467487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Segunda sincronización: 5 hallazgos resueltos</a:t>
            </a:r>
            <a:endParaRPr lang="en-US" sz="1300" dirty="0"/>
          </a:p>
        </p:txBody>
      </p:sp>
      <p:sp>
        <p:nvSpPr>
          <p:cNvPr id="20" name="Hito #36"/>
          <p:cNvSpPr/>
          <p:nvPr/>
        </p:nvSpPr>
        <p:spPr>
          <a:xfrm>
            <a:off x="6263640" y="2606040"/>
            <a:ext cx="640080" cy="64008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PR #36"/>
          <p:cNvSpPr txBox="1"/>
          <p:nvPr/>
        </p:nvSpPr>
        <p:spPr>
          <a:xfrm>
            <a:off x="608076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#36</a:t>
            </a:r>
            <a:endParaRPr lang="en-US" sz="1600" dirty="0"/>
          </a:p>
        </p:txBody>
      </p:sp>
      <p:sp>
        <p:nvSpPr>
          <p:cNvPr id="22" name="Tipo #36"/>
          <p:cNvSpPr txBox="1"/>
          <p:nvPr/>
        </p:nvSpPr>
        <p:spPr>
          <a:xfrm>
            <a:off x="608076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1200" dirty="0"/>
          </a:p>
        </p:txBody>
      </p:sp>
      <p:sp>
        <p:nvSpPr>
          <p:cNvPr id="23" name="Descripción #36"/>
          <p:cNvSpPr txBox="1"/>
          <p:nvPr/>
        </p:nvSpPr>
        <p:spPr>
          <a:xfrm>
            <a:off x="608076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Documentación técnica completa</a:t>
            </a:r>
            <a:endParaRPr lang="en-US" sz="1300" dirty="0"/>
          </a:p>
        </p:txBody>
      </p:sp>
      <p:sp>
        <p:nvSpPr>
          <p:cNvPr id="24" name="Hito #37"/>
          <p:cNvSpPr/>
          <p:nvPr/>
        </p:nvSpPr>
        <p:spPr>
          <a:xfrm>
            <a:off x="7669530" y="260604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PR #37"/>
          <p:cNvSpPr txBox="1"/>
          <p:nvPr/>
        </p:nvSpPr>
        <p:spPr>
          <a:xfrm>
            <a:off x="748665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#37</a:t>
            </a:r>
            <a:endParaRPr lang="en-US" sz="1600" dirty="0"/>
          </a:p>
        </p:txBody>
      </p:sp>
      <p:sp>
        <p:nvSpPr>
          <p:cNvPr id="26" name="Tipo #37"/>
          <p:cNvSpPr txBox="1"/>
          <p:nvPr/>
        </p:nvSpPr>
        <p:spPr>
          <a:xfrm>
            <a:off x="748665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design:</a:t>
            </a:r>
            <a:endParaRPr lang="en-US" sz="1200" dirty="0"/>
          </a:p>
        </p:txBody>
      </p:sp>
      <p:sp>
        <p:nvSpPr>
          <p:cNvPr id="27" name="Descripción #37"/>
          <p:cNvSpPr txBox="1"/>
          <p:nvPr/>
        </p:nvSpPr>
        <p:spPr>
          <a:xfrm>
            <a:off x="748665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Parte de dominio de tres invariantes</a:t>
            </a:r>
            <a:endParaRPr lang="en-US" sz="1300" dirty="0"/>
          </a:p>
        </p:txBody>
      </p:sp>
      <p:sp>
        <p:nvSpPr>
          <p:cNvPr id="28" name="Hito #38"/>
          <p:cNvSpPr/>
          <p:nvPr/>
        </p:nvSpPr>
        <p:spPr>
          <a:xfrm>
            <a:off x="9075420" y="2606040"/>
            <a:ext cx="640080" cy="64008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PR #38"/>
          <p:cNvSpPr txBox="1"/>
          <p:nvPr/>
        </p:nvSpPr>
        <p:spPr>
          <a:xfrm>
            <a:off x="889254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#38</a:t>
            </a:r>
            <a:endParaRPr lang="en-US" sz="1600" dirty="0"/>
          </a:p>
        </p:txBody>
      </p:sp>
      <p:sp>
        <p:nvSpPr>
          <p:cNvPr id="30" name="Tipo #38"/>
          <p:cNvSpPr txBox="1"/>
          <p:nvPr/>
        </p:nvSpPr>
        <p:spPr>
          <a:xfrm>
            <a:off x="889254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contract:</a:t>
            </a:r>
            <a:endParaRPr lang="en-US" sz="1200" dirty="0"/>
          </a:p>
        </p:txBody>
      </p:sp>
      <p:sp>
        <p:nvSpPr>
          <p:cNvPr id="31" name="Descripción #38"/>
          <p:cNvSpPr txBox="1"/>
          <p:nvPr/>
        </p:nvSpPr>
        <p:spPr>
          <a:xfrm>
            <a:off x="889254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Ejemplos en el contrato 0.2.1</a:t>
            </a:r>
            <a:endParaRPr lang="en-US" sz="1300" dirty="0"/>
          </a:p>
        </p:txBody>
      </p:sp>
      <p:sp>
        <p:nvSpPr>
          <p:cNvPr id="32" name="Hito #39"/>
          <p:cNvSpPr/>
          <p:nvPr/>
        </p:nvSpPr>
        <p:spPr>
          <a:xfrm>
            <a:off x="10481310" y="2606040"/>
            <a:ext cx="640080" cy="64008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3" name="PR #39"/>
          <p:cNvSpPr txBox="1"/>
          <p:nvPr/>
        </p:nvSpPr>
        <p:spPr>
          <a:xfrm>
            <a:off x="10298430" y="20574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#39</a:t>
            </a:r>
            <a:endParaRPr lang="en-US" sz="1600" dirty="0"/>
          </a:p>
        </p:txBody>
      </p:sp>
      <p:sp>
        <p:nvSpPr>
          <p:cNvPr id="34" name="Tipo #39"/>
          <p:cNvSpPr txBox="1"/>
          <p:nvPr/>
        </p:nvSpPr>
        <p:spPr>
          <a:xfrm>
            <a:off x="10298430" y="3429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1200" dirty="0"/>
          </a:p>
        </p:txBody>
      </p:sp>
      <p:sp>
        <p:nvSpPr>
          <p:cNvPr id="35" name="Descripción #39"/>
          <p:cNvSpPr txBox="1"/>
          <p:nvPr/>
        </p:nvSpPr>
        <p:spPr>
          <a:xfrm>
            <a:off x="10298430" y="3794760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Documentación final y etiqueta etapa-1</a:t>
            </a:r>
            <a:endParaRPr lang="en-US" sz="1300" dirty="0"/>
          </a:p>
        </p:txBody>
      </p:sp>
      <p:sp>
        <p:nvSpPr>
          <p:cNvPr id="36" name="Resumen hallazgos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Hallazgos resueltos: F2, E2, SYNC-20261025-07 a -11, DOC-20261025-01 y -02. Ninguno cambió el comportamiento del sistema.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decisiones de arquitectura (20 vigentes)</a:t>
            </a:r>
            <a:endParaRPr lang="en-US" sz="3200" dirty="0"/>
          </a:p>
        </p:txBody>
      </p:sp>
      <p:sp>
        <p:nvSpPr>
          <p:cNvPr id="3" name="Decisión ADR-0001"/>
          <p:cNvSpPr/>
          <p:nvPr/>
        </p:nvSpPr>
        <p:spPr>
          <a:xfrm>
            <a:off x="54864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DR-0001 círculo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DR-0001 icono" descr="ADR-00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58061"/>
            <a:ext cx="307238" cy="307238"/>
          </a:xfrm>
          <a:prstGeom prst="rect">
            <a:avLst/>
          </a:prstGeom>
        </p:spPr>
      </p:pic>
      <p:sp>
        <p:nvSpPr>
          <p:cNvPr id="6" name="Nombre ADR-0001"/>
          <p:cNvSpPr txBox="1"/>
          <p:nvPr/>
        </p:nvSpPr>
        <p:spPr>
          <a:xfrm>
            <a:off x="164592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ADR-0001</a:t>
            </a:r>
            <a:endParaRPr lang="en-US" sz="1600" dirty="0"/>
          </a:p>
        </p:txBody>
      </p:sp>
      <p:sp>
        <p:nvSpPr>
          <p:cNvPr id="7" name="Descripción ADR-0001"/>
          <p:cNvSpPr txBox="1"/>
          <p:nvPr/>
        </p:nvSpPr>
        <p:spPr>
          <a:xfrm>
            <a:off x="8229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Arquitectura hexagonal y modelos por frontera</a:t>
            </a:r>
            <a:endParaRPr lang="en-US" sz="1400" dirty="0"/>
          </a:p>
        </p:txBody>
      </p:sp>
      <p:sp>
        <p:nvSpPr>
          <p:cNvPr id="8" name="Decisión ADR-0004/0019"/>
          <p:cNvSpPr/>
          <p:nvPr/>
        </p:nvSpPr>
        <p:spPr>
          <a:xfrm>
            <a:off x="429768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DR-0004/0019 círculo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DR-0004/0019 icono" descr="ADR-0004/0019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1858061"/>
            <a:ext cx="307238" cy="307238"/>
          </a:xfrm>
          <a:prstGeom prst="rect">
            <a:avLst/>
          </a:prstGeom>
        </p:spPr>
      </p:pic>
      <p:sp>
        <p:nvSpPr>
          <p:cNvPr id="11" name="Nombre ADR-0004/0019"/>
          <p:cNvSpPr txBox="1"/>
          <p:nvPr/>
        </p:nvSpPr>
        <p:spPr>
          <a:xfrm>
            <a:off x="539496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ADR-0004/0019</a:t>
            </a:r>
            <a:endParaRPr lang="en-US" sz="1600" dirty="0"/>
          </a:p>
        </p:txBody>
      </p:sp>
      <p:sp>
        <p:nvSpPr>
          <p:cNvPr id="12" name="Descripción ADR-0004/0019"/>
          <p:cNvSpPr txBox="1"/>
          <p:nvPr/>
        </p:nvSpPr>
        <p:spPr>
          <a:xfrm>
            <a:off x="457200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Códigos de error y Problem Details (RFC 9457)</a:t>
            </a:r>
            <a:endParaRPr lang="en-US" sz="1400" dirty="0"/>
          </a:p>
        </p:txBody>
      </p:sp>
      <p:sp>
        <p:nvSpPr>
          <p:cNvPr id="13" name="Decisión ADR-0010"/>
          <p:cNvSpPr/>
          <p:nvPr/>
        </p:nvSpPr>
        <p:spPr>
          <a:xfrm>
            <a:off x="8046720" y="141732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DR-0010 círculo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DR-0010 icono" descr="ADR-001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461" y="1858061"/>
            <a:ext cx="307238" cy="307238"/>
          </a:xfrm>
          <a:prstGeom prst="rect">
            <a:avLst/>
          </a:prstGeom>
        </p:spPr>
      </p:pic>
      <p:sp>
        <p:nvSpPr>
          <p:cNvPr id="16" name="Nombre ADR-0010"/>
          <p:cNvSpPr txBox="1"/>
          <p:nvPr/>
        </p:nvSpPr>
        <p:spPr>
          <a:xfrm>
            <a:off x="9144000" y="17647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ADR-0010</a:t>
            </a:r>
            <a:endParaRPr lang="en-US" sz="1600" dirty="0"/>
          </a:p>
        </p:txBody>
      </p:sp>
      <p:sp>
        <p:nvSpPr>
          <p:cNvPr id="17" name="Descripción ADR-0010"/>
          <p:cNvSpPr txBox="1"/>
          <p:nvPr/>
        </p:nvSpPr>
        <p:spPr>
          <a:xfrm>
            <a:off x="832104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Documentos en volumen, eliminación lógica y limpieza diaria</a:t>
            </a:r>
            <a:endParaRPr lang="en-US" sz="1400" dirty="0"/>
          </a:p>
        </p:txBody>
      </p:sp>
      <p:sp>
        <p:nvSpPr>
          <p:cNvPr id="18" name="Decisión ADR-0015"/>
          <p:cNvSpPr/>
          <p:nvPr/>
        </p:nvSpPr>
        <p:spPr>
          <a:xfrm>
            <a:off x="54864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DR-0015 círculo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DR-0015 icono" descr="ADR-001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098341"/>
            <a:ext cx="307238" cy="307238"/>
          </a:xfrm>
          <a:prstGeom prst="rect">
            <a:avLst/>
          </a:prstGeom>
        </p:spPr>
      </p:pic>
      <p:sp>
        <p:nvSpPr>
          <p:cNvPr id="21" name="Nombre ADR-0015"/>
          <p:cNvSpPr txBox="1"/>
          <p:nvPr/>
        </p:nvSpPr>
        <p:spPr>
          <a:xfrm>
            <a:off x="164592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ADR-0015</a:t>
            </a:r>
            <a:endParaRPr lang="en-US" sz="1600" dirty="0"/>
          </a:p>
        </p:txBody>
      </p:sp>
      <p:sp>
        <p:nvSpPr>
          <p:cNvPr id="22" name="Descripción ADR-0015"/>
          <p:cNvSpPr txBox="1"/>
          <p:nvPr/>
        </p:nvSpPr>
        <p:spPr>
          <a:xfrm>
            <a:off x="82296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JWT de 60 minutos con contexto por jti</a:t>
            </a:r>
            <a:endParaRPr lang="en-US" sz="1400" dirty="0"/>
          </a:p>
        </p:txBody>
      </p:sp>
      <p:sp>
        <p:nvSpPr>
          <p:cNvPr id="23" name="Decisión ADR-0016"/>
          <p:cNvSpPr/>
          <p:nvPr/>
        </p:nvSpPr>
        <p:spPr>
          <a:xfrm>
            <a:off x="429768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DR-0016 círculo"/>
          <p:cNvSpPr/>
          <p:nvPr/>
        </p:nvSpPr>
        <p:spPr>
          <a:xfrm>
            <a:off x="4572000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DR-0016 icono" descr="ADR-001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421" y="4098341"/>
            <a:ext cx="307238" cy="307238"/>
          </a:xfrm>
          <a:prstGeom prst="rect">
            <a:avLst/>
          </a:prstGeom>
        </p:spPr>
      </p:pic>
      <p:sp>
        <p:nvSpPr>
          <p:cNvPr id="26" name="Nombre ADR-0016"/>
          <p:cNvSpPr txBox="1"/>
          <p:nvPr/>
        </p:nvSpPr>
        <p:spPr>
          <a:xfrm>
            <a:off x="539496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ADR-0016</a:t>
            </a:r>
            <a:endParaRPr lang="en-US" sz="1600" dirty="0"/>
          </a:p>
        </p:txBody>
      </p:sp>
      <p:sp>
        <p:nvSpPr>
          <p:cNvPr id="27" name="Descripción ADR-0016"/>
          <p:cNvSpPr txBox="1"/>
          <p:nvPr/>
        </p:nvSpPr>
        <p:spPr>
          <a:xfrm>
            <a:off x="457200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Verificación de firma RSA con SHA-256</a:t>
            </a:r>
            <a:endParaRPr lang="en-US" sz="1400" dirty="0"/>
          </a:p>
        </p:txBody>
      </p:sp>
      <p:sp>
        <p:nvSpPr>
          <p:cNvPr id="28" name="Decisión ADR-0017/0018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ADR-0017/0018 círculo"/>
          <p:cNvSpPr/>
          <p:nvPr/>
        </p:nvSpPr>
        <p:spPr>
          <a:xfrm>
            <a:off x="832104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ADR-0017/0018 icono" descr="ADR-0017/0018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7461" y="4098341"/>
            <a:ext cx="307238" cy="307238"/>
          </a:xfrm>
          <a:prstGeom prst="rect">
            <a:avLst/>
          </a:prstGeom>
        </p:spPr>
      </p:pic>
      <p:sp>
        <p:nvSpPr>
          <p:cNvPr id="31" name="Nombre ADR-0017/0018"/>
          <p:cNvSpPr txBox="1"/>
          <p:nvPr/>
        </p:nvSpPr>
        <p:spPr>
          <a:xfrm>
            <a:off x="914400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ADR-0017/0018</a:t>
            </a:r>
            <a:endParaRPr lang="en-US" sz="1600" dirty="0"/>
          </a:p>
        </p:txBody>
      </p:sp>
      <p:sp>
        <p:nvSpPr>
          <p:cNvPr id="32" name="Descripción ADR-0017/0018"/>
          <p:cNvSpPr txBox="1"/>
          <p:nvPr/>
        </p:nvSpPr>
        <p:spPr>
          <a:xfrm>
            <a:off x="8321040" y="4709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17 con Flyway y base de pruebas desechable</a:t>
            </a:r>
            <a:endParaRPr lang="en-US" sz="1400" dirty="0"/>
          </a:p>
        </p:txBody>
      </p:sp>
      <p:sp>
        <p:nvSpPr>
          <p:cNvPr id="33" name="Nota ADR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ADR-0005 (H2 en memoria) quedó reemplazado por ADR-0018. Índice completo en specs/adr/README.md.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Siguientes pasos</a:t>
            </a:r>
            <a:endParaRPr lang="en-US" sz="3400" dirty="0"/>
          </a:p>
        </p:txBody>
      </p:sp>
      <p:sp>
        <p:nvSpPr>
          <p:cNvPr id="3" name="Frontend del registro círculo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Frontend del registro icono" descr="Frontend del regis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756562"/>
            <a:ext cx="373075" cy="373075"/>
          </a:xfrm>
          <a:prstGeom prst="rect">
            <a:avLst/>
          </a:prstGeom>
        </p:spPr>
      </p:pic>
      <p:sp>
        <p:nvSpPr>
          <p:cNvPr id="5" name="Paso Frontend del registro"/>
          <p:cNvSpPr txBox="1"/>
          <p:nvPr/>
        </p:nvSpPr>
        <p:spPr>
          <a:xfrm>
            <a:off x="1554480" y="1572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Frontend del registro</a:t>
            </a:r>
            <a:endParaRPr lang="en-US" sz="2000" dirty="0"/>
          </a:p>
        </p:txBody>
      </p:sp>
      <p:sp>
        <p:nvSpPr>
          <p:cNvPr id="6" name="Detalle Frontend del registro"/>
          <p:cNvSpPr txBox="1"/>
          <p:nvPr/>
        </p:nvSpPr>
        <p:spPr>
          <a:xfrm>
            <a:off x="1554480" y="2057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Pantallas en Angular 21 y PrimeNG/Sakai (ADR-0011 a 0014); cubrir los 45 criterios de interfaz.</a:t>
            </a:r>
            <a:endParaRPr lang="en-US" sz="1500" dirty="0"/>
          </a:p>
        </p:txBody>
      </p:sp>
      <p:sp>
        <p:nvSpPr>
          <p:cNvPr id="7" name="Especificar la etapa 2 círculo"/>
          <p:cNvSpPr/>
          <p:nvPr/>
        </p:nvSpPr>
        <p:spPr>
          <a:xfrm>
            <a:off x="6172200" y="15544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Especificar la etapa 2 icono" descr="Especificar la etap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1756562"/>
            <a:ext cx="373075" cy="373075"/>
          </a:xfrm>
          <a:prstGeom prst="rect">
            <a:avLst/>
          </a:prstGeom>
        </p:spPr>
      </p:pic>
      <p:sp>
        <p:nvSpPr>
          <p:cNvPr id="9" name="Paso Especificar la etapa 2"/>
          <p:cNvSpPr txBox="1"/>
          <p:nvPr/>
        </p:nvSpPr>
        <p:spPr>
          <a:xfrm>
            <a:off x="7178040" y="15727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Especificar la etapa 2</a:t>
            </a:r>
            <a:endParaRPr lang="en-US" sz="2000" dirty="0"/>
          </a:p>
        </p:txBody>
      </p:sp>
      <p:sp>
        <p:nvSpPr>
          <p:cNvPr id="10" name="Detalle Especificar la etapa 2"/>
          <p:cNvSpPr txBox="1"/>
          <p:nvPr/>
        </p:nvSpPr>
        <p:spPr>
          <a:xfrm>
            <a:off x="7178040" y="2057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Contactos, Domicilio fiscal, Cobertura, firma final y finalización (US07, INV-38 e INV-39).</a:t>
            </a:r>
            <a:endParaRPr lang="en-US" sz="1500" dirty="0"/>
          </a:p>
        </p:txBody>
      </p:sp>
      <p:sp>
        <p:nvSpPr>
          <p:cNvPr id="11" name="Medir los no funcionales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Medir los no funcionales icono" descr="Medir los no funciona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951122"/>
            <a:ext cx="373075" cy="373075"/>
          </a:xfrm>
          <a:prstGeom prst="rect">
            <a:avLst/>
          </a:prstGeom>
        </p:spPr>
      </p:pic>
      <p:sp>
        <p:nvSpPr>
          <p:cNvPr id="13" name="Paso Medir los no funcionales"/>
          <p:cNvSpPr txBox="1"/>
          <p:nvPr/>
        </p:nvSpPr>
        <p:spPr>
          <a:xfrm>
            <a:off x="1554480" y="3767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Medir los no funcionales</a:t>
            </a:r>
            <a:endParaRPr lang="en-US" sz="2000" dirty="0"/>
          </a:p>
        </p:txBody>
      </p:sp>
      <p:sp>
        <p:nvSpPr>
          <p:cNvPr id="14" name="Detalle Medir los no funcionales"/>
          <p:cNvSpPr txBox="1"/>
          <p:nvPr/>
        </p:nvSpPr>
        <p:spPr>
          <a:xfrm>
            <a:off x="1554480" y="42519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Rendimiento (RNF-06), disponibilidad 99.5 % (RNF-11) y respaldos con RPO 24 h y RTO 4 h (RNF-05).</a:t>
            </a:r>
            <a:endParaRPr lang="en-US" sz="1500" dirty="0"/>
          </a:p>
        </p:txBody>
      </p:sp>
      <p:sp>
        <p:nvSpPr>
          <p:cNvPr id="15" name="Regenerar Postman círculo"/>
          <p:cNvSpPr/>
          <p:nvPr/>
        </p:nvSpPr>
        <p:spPr>
          <a:xfrm>
            <a:off x="6172200" y="37490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Regenerar Postman icono" descr="Regenerar Postm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3951122"/>
            <a:ext cx="373075" cy="373075"/>
          </a:xfrm>
          <a:prstGeom prst="rect">
            <a:avLst/>
          </a:prstGeom>
        </p:spPr>
      </p:pic>
      <p:sp>
        <p:nvSpPr>
          <p:cNvPr id="17" name="Paso Regenerar Postman"/>
          <p:cNvSpPr txBox="1"/>
          <p:nvPr/>
        </p:nvSpPr>
        <p:spPr>
          <a:xfrm>
            <a:off x="7178040" y="3767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Regenerar Postman</a:t>
            </a:r>
            <a:endParaRPr lang="en-US" sz="2000" dirty="0"/>
          </a:p>
        </p:txBody>
      </p:sp>
      <p:sp>
        <p:nvSpPr>
          <p:cNvPr id="18" name="Detalle Regenerar Postman"/>
          <p:cNvSpPr txBox="1"/>
          <p:nvPr/>
        </p:nvSpPr>
        <p:spPr>
          <a:xfrm>
            <a:off x="7178040" y="42519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Actualizar la colección de contrato con los ejemplos de la versión 0.2.1.</a:t>
            </a:r>
            <a:endParaRPr lang="en-US" sz="1500" dirty="0"/>
          </a:p>
        </p:txBody>
      </p:sp>
      <p:sp>
        <p:nvSpPr>
          <p:cNvPr id="19" name="Referencia entrega"/>
          <p:cNvSpPr txBox="1"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Entrega: docs/entrega/ · Etiqueta: etapa-1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istro Fredkor">
  <a:themeElements>
    <a:clrScheme name="Registro Fredkor">
      <a:dk1>
        <a:srgbClr val="1B2B28"/>
      </a:dk1>
      <a:lt1>
        <a:srgbClr val="FFFFFF"/>
      </a:lt1>
      <a:dk2>
        <a:srgbClr val="1F4E46"/>
      </a:dk2>
      <a:lt2>
        <a:srgbClr val="EEF4F2"/>
      </a:lt2>
      <a:accent1>
        <a:srgbClr val="1F4E46"/>
      </a:accent1>
      <a:accent2>
        <a:srgbClr val="E3A33B"/>
      </a:accent2>
      <a:accent3>
        <a:srgbClr val="5B8C7E"/>
      </a:accent3>
      <a:accent4>
        <a:srgbClr val="9FC3B6"/>
      </a:accent4>
      <a:accent5>
        <a:srgbClr val="C7522A"/>
      </a:accent5>
      <a:accent6>
        <a:srgbClr val="6B7B78"/>
      </a:accent6>
      <a:hlink>
        <a:srgbClr val="1F4E46"/>
      </a:hlink>
      <a:folHlink>
        <a:srgbClr val="5B8C7E"/>
      </a:folHlink>
    </a:clrScheme>
    <a:fontScheme name="Registro Fredk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de proveedores — Etapa 1</dc:title>
  <dc:subject>Resumen de la primera etapa</dc:subject>
  <dc:creator>Fredkor Labs</dc:creator>
  <cp:lastModifiedBy>Fredkor Labs</cp:lastModifiedBy>
  <cp:revision>1</cp:revision>
  <dcterms:created xsi:type="dcterms:W3CDTF">2026-10-25T08:13:57Z</dcterms:created>
  <dcterms:modified xsi:type="dcterms:W3CDTF">2026-10-25T08:13:57Z</dcterms:modified>
</cp:coreProperties>
</file>