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d7aad2ac-faf4-73c7-aceb-b5e379171318}">
          <p14:sldIdLst>
            <p14:sldId id="256"/>
            <p14:sldId id="257"/>
            <p14:sldId id="258"/>
          </p14:sldIdLst>
        </p14:section>
        <p14:section name="Flujo" id="{eeef0ec3-8ed9-bc0e-6646-2ae566c86ac6}">
          <p14:sldIdLst>
            <p14:sldId id="259"/>
            <p14:sldId id="260"/>
            <p14:sldId id="261"/>
            <p14:sldId id="262"/>
            <p14:sldId id="263"/>
          </p14:sldIdLst>
        </p14:section>
        <p14:section name="Especificaciones" id="{330a69a4-563c-e07b-4b25-a0d62c4f76e8}">
          <p14:sldIdLst>
            <p14:sldId id="264"/>
            <p14:sldId id="265"/>
            <p14:sldId id="266"/>
          </p14:sldIdLst>
        </p14:section>
        <p14:section name="Cierre" id="{d740db41-6ac7-4d19-f21b-9b08a51fad5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para negocio: por qué existe el registro, cómo fluye y cómo se especificó. El resultado técnico está en presentacion-etapa-1.pptx.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problemas son los de specs/vision.md §2. Todo lo demás de la solución responde a alguno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Beneficios derivados de la visión (§2 y §5) y de RF-REG-01 a RF-REG-05: identificación con e.firma, unicidad por RFC, evidencia y validación por catálogos.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según RF-REG-01 a RF-REG-06 y RF-REG-08, y el ciclo de vida. Un expediente registrado no admite nueva alta ni reanudación. Contactos es el punto de continuación de la etapa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ciclo de vida (§2, §4 a §6). REQUIRES_REVIEW queda reservado para etapas posteriores.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RF-REG-05 (Datos Generales, teléfonos y cédula), US08 a US10 y el catálogo de titularidad jurídica. Giro, estratificación, actividad, trabajadores y ventas son obligatorios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RF-REG-08 y US11. Ejemplo tomado de catalog-values.md (capítulo 2000, partida específica 21101). Los nombres del concepto y la genérica están abreviados.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tomadas de RF-REG-01 a RF-REG-06 y de las invariantes INV-09, INV-07, INV-02, ADR-0015, INV-34 e INV-37.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 specs/: 8 RF y 13 RNF, 11 historias con 136 criterios, 17 catálogos, 39 invariantes, 21 ADR y 22 operaciones en el contrato OpenAPI.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historia tiene criterios de aceptación numerados (CA-001…). 91 de los 136 se verifican en el backend; el resto es de interfaz o de la etapa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visión §3 y §4 y requerimientos funcionales (alcance). La etapa 2 necesita especificaciones antes de implementarse.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que se pide a negocio es priorizar la especificación de la etapa 2 y el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Registro de proveedores · Fredkor Labs · Presentación de negocio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proveedores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El problema que resolvemos, el flujo de negocio y cómo lo especificamos</a:t>
            </a:r>
            <a:endParaRPr lang="en-US" sz="2000" dirty="0"/>
          </a:p>
        </p:txBody>
      </p:sp>
      <p:sp>
        <p:nvSpPr>
          <p:cNvPr id="4" name="Proveedores círculo"/>
          <p:cNvSpPr/>
          <p:nvPr/>
        </p:nvSpPr>
        <p:spPr>
          <a:xfrm>
            <a:off x="731520" y="9601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Proveedores icono" descr="Provee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1174090"/>
            <a:ext cx="395021" cy="395021"/>
          </a:xfrm>
          <a:prstGeom prst="rect">
            <a:avLst/>
          </a:prstGeom>
        </p:spPr>
      </p:pic>
      <p:sp>
        <p:nvSpPr>
          <p:cNvPr id="6" name="Etiqueta"/>
          <p:cNvSpPr txBox="1"/>
          <p:nvPr/>
        </p:nvSpPr>
        <p:spPr>
          <a:xfrm>
            <a:off x="173736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Presentación de negocio</a:t>
            </a:r>
            <a:endParaRPr lang="en-US" sz="2000" dirty="0"/>
          </a:p>
        </p:txBody>
      </p:sp>
      <p:sp>
        <p:nvSpPr>
          <p:cNvPr id="7" name="Pie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Fredkor Labs · Plataforma de Compras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resolvemos</a:t>
            </a:r>
            <a:endParaRPr lang="en-US" sz="3200" dirty="0"/>
          </a:p>
        </p:txBody>
      </p:sp>
      <p:sp>
        <p:nvSpPr>
          <p:cNvPr id="3" name="Planteamiento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Personas físicas y morales necesitan registrarse como proveedores de Fredkor Labs con información confiable y sin empezar de cero cada vez.</a:t>
            </a:r>
            <a:endParaRPr lang="en-US" sz="1800" dirty="0"/>
          </a:p>
        </p:txBody>
      </p:sp>
      <p:sp>
        <p:nvSpPr>
          <p:cNvPr id="4" name="Problema Saber quién se registra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aber quién se registra círculo"/>
          <p:cNvSpPr/>
          <p:nvPr/>
        </p:nvSpPr>
        <p:spPr>
          <a:xfrm>
            <a:off x="82296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aber quién se registra icono" descr="Saber quién se regist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613355"/>
            <a:ext cx="351130" cy="351130"/>
          </a:xfrm>
          <a:prstGeom prst="rect">
            <a:avLst/>
          </a:prstGeom>
        </p:spPr>
      </p:pic>
      <p:sp>
        <p:nvSpPr>
          <p:cNvPr id="7" name="Título Saber quién se registra"/>
          <p:cNvSpPr txBox="1"/>
          <p:nvPr/>
        </p:nvSpPr>
        <p:spPr>
          <a:xfrm>
            <a:off x="82296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Saber quién se registra</a:t>
            </a:r>
            <a:endParaRPr lang="en-US" sz="1800" dirty="0"/>
          </a:p>
        </p:txBody>
      </p:sp>
      <p:sp>
        <p:nvSpPr>
          <p:cNvPr id="8" name="Detalle Saber quién se registra"/>
          <p:cNvSpPr txBox="1"/>
          <p:nvPr/>
        </p:nvSpPr>
        <p:spPr>
          <a:xfrm>
            <a:off x="82296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Identificar al solicitante con su e.firma antes de habilitar cualquier captura.</a:t>
            </a:r>
            <a:endParaRPr lang="en-US" sz="1400" dirty="0"/>
          </a:p>
        </p:txBody>
      </p:sp>
      <p:sp>
        <p:nvSpPr>
          <p:cNvPr id="9" name="Problema Evitar duplicados"/>
          <p:cNvSpPr/>
          <p:nvPr/>
        </p:nvSpPr>
        <p:spPr>
          <a:xfrm>
            <a:off x="336042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vitar duplicados círculo"/>
          <p:cNvSpPr/>
          <p:nvPr/>
        </p:nvSpPr>
        <p:spPr>
          <a:xfrm>
            <a:off x="3634740" y="24231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Evitar duplicados icono" descr="Evitar duplic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935" y="2613355"/>
            <a:ext cx="351130" cy="351130"/>
          </a:xfrm>
          <a:prstGeom prst="rect">
            <a:avLst/>
          </a:prstGeom>
        </p:spPr>
      </p:pic>
      <p:sp>
        <p:nvSpPr>
          <p:cNvPr id="12" name="Título Evitar duplicados"/>
          <p:cNvSpPr txBox="1"/>
          <p:nvPr/>
        </p:nvSpPr>
        <p:spPr>
          <a:xfrm>
            <a:off x="363474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Evitar duplicados</a:t>
            </a:r>
            <a:endParaRPr lang="en-US" sz="1800" dirty="0"/>
          </a:p>
        </p:txBody>
      </p:sp>
      <p:sp>
        <p:nvSpPr>
          <p:cNvPr id="13" name="Detalle Evitar duplicados"/>
          <p:cNvSpPr txBox="1"/>
          <p:nvPr/>
        </p:nvSpPr>
        <p:spPr>
          <a:xfrm>
            <a:off x="363474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solo registro por identidad fiscal (RFC), aun con solicitudes simultáneas.</a:t>
            </a:r>
            <a:endParaRPr lang="en-US" sz="1400" dirty="0"/>
          </a:p>
        </p:txBody>
      </p:sp>
      <p:sp>
        <p:nvSpPr>
          <p:cNvPr id="14" name="Problema Datos consistentes"/>
          <p:cNvSpPr/>
          <p:nvPr/>
        </p:nvSpPr>
        <p:spPr>
          <a:xfrm>
            <a:off x="617220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atos consistentes círculo"/>
          <p:cNvSpPr/>
          <p:nvPr/>
        </p:nvSpPr>
        <p:spPr>
          <a:xfrm>
            <a:off x="6446520" y="24231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Datos consistentes icono" descr="Datos consisten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2613355"/>
            <a:ext cx="351130" cy="351130"/>
          </a:xfrm>
          <a:prstGeom prst="rect">
            <a:avLst/>
          </a:prstGeom>
        </p:spPr>
      </p:pic>
      <p:sp>
        <p:nvSpPr>
          <p:cNvPr id="17" name="Título Datos consistentes"/>
          <p:cNvSpPr txBox="1"/>
          <p:nvPr/>
        </p:nvSpPr>
        <p:spPr>
          <a:xfrm>
            <a:off x="644652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Datos consistentes</a:t>
            </a:r>
            <a:endParaRPr lang="en-US" sz="1800" dirty="0"/>
          </a:p>
        </p:txBody>
      </p:sp>
      <p:sp>
        <p:nvSpPr>
          <p:cNvPr id="18" name="Detalle Datos consistentes"/>
          <p:cNvSpPr txBox="1"/>
          <p:nvPr/>
        </p:nvSpPr>
        <p:spPr>
          <a:xfrm>
            <a:off x="644652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Pedir solo lo que aplica según régimen y origen, validado contra catálogos.</a:t>
            </a:r>
            <a:endParaRPr lang="en-US" sz="1400" dirty="0"/>
          </a:p>
        </p:txBody>
      </p:sp>
      <p:sp>
        <p:nvSpPr>
          <p:cNvPr id="19" name="Problema No perder el avance"/>
          <p:cNvSpPr/>
          <p:nvPr/>
        </p:nvSpPr>
        <p:spPr>
          <a:xfrm>
            <a:off x="8983980" y="21488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o perder el avance círculo"/>
          <p:cNvSpPr/>
          <p:nvPr/>
        </p:nvSpPr>
        <p:spPr>
          <a:xfrm>
            <a:off x="9258300" y="24231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No perder el avance icono" descr="No perder el av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495" y="2613355"/>
            <a:ext cx="351130" cy="351130"/>
          </a:xfrm>
          <a:prstGeom prst="rect">
            <a:avLst/>
          </a:prstGeom>
        </p:spPr>
      </p:pic>
      <p:sp>
        <p:nvSpPr>
          <p:cNvPr id="22" name="Título No perder el avance"/>
          <p:cNvSpPr txBox="1"/>
          <p:nvPr/>
        </p:nvSpPr>
        <p:spPr>
          <a:xfrm>
            <a:off x="9258300" y="3337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perder el avance</a:t>
            </a:r>
            <a:endParaRPr lang="en-US" sz="1800" dirty="0"/>
          </a:p>
        </p:txBody>
      </p:sp>
      <p:sp>
        <p:nvSpPr>
          <p:cNvPr id="23" name="Detalle No perder el avance"/>
          <p:cNvSpPr txBox="1"/>
          <p:nvPr/>
        </p:nvSpPr>
        <p:spPr>
          <a:xfrm>
            <a:off x="9258300" y="4069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Guardar por secciones y retomar un expediente incompleto en otra sesión.</a:t>
            </a:r>
            <a:endParaRPr lang="en-US" sz="1400" dirty="0"/>
          </a:p>
        </p:txBody>
      </p:sp>
      <p:sp>
        <p:nvSpPr>
          <p:cNvPr id="24" name="Fuente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Fuente: visión, §1 y §2.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 cada parte</a:t>
            </a:r>
            <a:endParaRPr lang="en-US" sz="3200" dirty="0"/>
          </a:p>
        </p:txBody>
      </p:sp>
      <p:sp>
        <p:nvSpPr>
          <p:cNvPr id="3" name="Parte El proveedor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l proveedor círculo"/>
          <p:cNvSpPr/>
          <p:nvPr/>
        </p:nvSpPr>
        <p:spPr>
          <a:xfrm>
            <a:off x="868680" y="16459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l proveedor icono" descr="El provee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1859890"/>
            <a:ext cx="395021" cy="395021"/>
          </a:xfrm>
          <a:prstGeom prst="rect">
            <a:avLst/>
          </a:prstGeom>
        </p:spPr>
      </p:pic>
      <p:sp>
        <p:nvSpPr>
          <p:cNvPr id="6" name="Nombre El proveedor"/>
          <p:cNvSpPr txBox="1"/>
          <p:nvPr/>
        </p:nvSpPr>
        <p:spPr>
          <a:xfrm>
            <a:off x="18745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El proveedor</a:t>
            </a:r>
            <a:endParaRPr lang="en-US" sz="2200" dirty="0"/>
          </a:p>
        </p:txBody>
      </p:sp>
      <p:sp>
        <p:nvSpPr>
          <p:cNvPr id="7" name="Tipo El proveedor"/>
          <p:cNvSpPr txBox="1"/>
          <p:nvPr/>
        </p:nvSpPr>
        <p:spPr>
          <a:xfrm>
            <a:off x="18745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Persona física o moral, nacional o extranjera</a:t>
            </a:r>
            <a:endParaRPr lang="en-US" sz="1400" dirty="0"/>
          </a:p>
        </p:txBody>
      </p:sp>
      <p:sp>
        <p:nvSpPr>
          <p:cNvPr id="8" name="Beneficios El proveedor"/>
          <p:cNvSpPr txBox="1"/>
          <p:nvPr/>
        </p:nvSpPr>
        <p:spPr>
          <a:xfrm>
            <a:off x="914400" y="27889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identifica con su e.firma; su usuario es su propio RFC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Captura solo los campos que le aplican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Guarda cada sección y retoma después donde se quedó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Puede cargar, consultar y eliminar su cédula fiscal</a:t>
            </a:r>
            <a:endParaRPr lang="en-US" sz="1600" dirty="0"/>
          </a:p>
        </p:txBody>
      </p:sp>
      <p:sp>
        <p:nvSpPr>
          <p:cNvPr id="9" name="Parte Fredkor Labs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redkor Labs círculo"/>
          <p:cNvSpPr/>
          <p:nvPr/>
        </p:nvSpPr>
        <p:spPr>
          <a:xfrm>
            <a:off x="6537960" y="164592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Fredkor Labs icono" descr="Fredkor Lab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930" y="1859890"/>
            <a:ext cx="395021" cy="395021"/>
          </a:xfrm>
          <a:prstGeom prst="rect">
            <a:avLst/>
          </a:prstGeom>
        </p:spPr>
      </p:pic>
      <p:sp>
        <p:nvSpPr>
          <p:cNvPr id="12" name="Nombre Fredkor Labs"/>
          <p:cNvSpPr txBox="1"/>
          <p:nvPr/>
        </p:nvSpPr>
        <p:spPr>
          <a:xfrm>
            <a:off x="75438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Fredkor Labs</a:t>
            </a:r>
            <a:endParaRPr lang="en-US" sz="2200" dirty="0"/>
          </a:p>
        </p:txBody>
      </p:sp>
      <p:sp>
        <p:nvSpPr>
          <p:cNvPr id="13" name="Tipo Fredkor Labs"/>
          <p:cNvSpPr txBox="1"/>
          <p:nvPr/>
        </p:nvSpPr>
        <p:spPr>
          <a:xfrm>
            <a:off x="754380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Plataforma de Compras</a:t>
            </a:r>
            <a:endParaRPr lang="en-US" sz="1400" dirty="0"/>
          </a:p>
        </p:txBody>
      </p:sp>
      <p:sp>
        <p:nvSpPr>
          <p:cNvPr id="14" name="Beneficios Fredkor Labs"/>
          <p:cNvSpPr txBox="1"/>
          <p:nvPr/>
        </p:nvSpPr>
        <p:spPr>
          <a:xfrm>
            <a:off x="6583680" y="27889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padrón sin altas duplicadas por RFC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Identidad verificada contra el certificado de la e.firma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Evidencia de la aceptación del aviso y de cada firma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Información validada contra los catálogos oficiales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negocio de punta a punta</a:t>
            </a:r>
            <a:endParaRPr lang="en-US" sz="3200" dirty="0"/>
          </a:p>
        </p:txBody>
      </p:sp>
      <p:sp>
        <p:nvSpPr>
          <p:cNvPr id="3" name="Paso aviso"/>
          <p:cNvSpPr/>
          <p:nvPr/>
        </p:nvSpPr>
        <p:spPr>
          <a:xfrm>
            <a:off x="54864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aso aviso texto"/>
          <p:cNvSpPr txBox="1"/>
          <p:nvPr/>
        </p:nvSpPr>
        <p:spPr>
          <a:xfrm>
            <a:off x="64008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1. Aceptar el aviso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Política v1.0</a:t>
            </a:r>
            <a:endParaRPr lang="en-US" sz="1400" dirty="0"/>
          </a:p>
        </p:txBody>
      </p:sp>
      <p:sp>
        <p:nvSpPr>
          <p:cNvPr id="5" name="Flecha aviso a firma"/>
          <p:cNvSpPr/>
          <p:nvPr/>
        </p:nvSpPr>
        <p:spPr>
          <a:xfrm>
            <a:off x="2148840" y="2971800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Paso firma"/>
          <p:cNvSpPr/>
          <p:nvPr/>
        </p:nvSpPr>
        <p:spPr>
          <a:xfrm>
            <a:off x="237744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aso firma texto"/>
          <p:cNvSpPr txBox="1"/>
          <p:nvPr/>
        </p:nvSpPr>
        <p:spPr>
          <a:xfrm>
            <a:off x="246888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2. Firmar con e.firma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identidad verificada</a:t>
            </a:r>
            <a:endParaRPr lang="en-US" sz="1400" dirty="0"/>
          </a:p>
        </p:txBody>
      </p:sp>
      <p:sp>
        <p:nvSpPr>
          <p:cNvPr id="8" name="Flecha firma a decisión"/>
          <p:cNvSpPr/>
          <p:nvPr/>
        </p:nvSpPr>
        <p:spPr>
          <a:xfrm>
            <a:off x="3977640" y="2971800"/>
            <a:ext cx="1828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Decisión registro"/>
          <p:cNvSpPr/>
          <p:nvPr/>
        </p:nvSpPr>
        <p:spPr>
          <a:xfrm>
            <a:off x="4160520" y="2331720"/>
            <a:ext cx="1371600" cy="1280160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Decisión texto"/>
          <p:cNvSpPr txBox="1"/>
          <p:nvPr/>
        </p:nvSpPr>
        <p:spPr>
          <a:xfrm>
            <a:off x="434340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¿Tiene registro?</a:t>
            </a:r>
            <a:endParaRPr lang="en-US" sz="1200" dirty="0"/>
          </a:p>
        </p:txBody>
      </p:sp>
      <p:sp>
        <p:nvSpPr>
          <p:cNvPr id="11" name="Rama crear"/>
          <p:cNvSpPr/>
          <p:nvPr/>
        </p:nvSpPr>
        <p:spPr>
          <a:xfrm>
            <a:off x="5897880" y="132588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Rama crear texto"/>
          <p:cNvSpPr txBox="1"/>
          <p:nvPr/>
        </p:nvSpPr>
        <p:spPr>
          <a:xfrm>
            <a:off x="5989320" y="1325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Crear expediente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si no existe</a:t>
            </a:r>
            <a:endParaRPr lang="en-US" sz="1400" dirty="0"/>
          </a:p>
        </p:txBody>
      </p:sp>
      <p:sp>
        <p:nvSpPr>
          <p:cNvPr id="13" name="Rama reanudar"/>
          <p:cNvSpPr/>
          <p:nvPr/>
        </p:nvSpPr>
        <p:spPr>
          <a:xfrm>
            <a:off x="589788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Rama reanudar texto"/>
          <p:cNvSpPr txBox="1"/>
          <p:nvPr/>
        </p:nvSpPr>
        <p:spPr>
          <a:xfrm>
            <a:off x="598932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Reanudar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si está en captura</a:t>
            </a:r>
            <a:endParaRPr lang="en-US" sz="1400" dirty="0"/>
          </a:p>
        </p:txBody>
      </p:sp>
      <p:sp>
        <p:nvSpPr>
          <p:cNvPr id="15" name="Rama rechazo"/>
          <p:cNvSpPr/>
          <p:nvPr/>
        </p:nvSpPr>
        <p:spPr>
          <a:xfrm>
            <a:off x="5897880" y="370332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6" name="Rama rechazo texto"/>
          <p:cNvSpPr txBox="1"/>
          <p:nvPr/>
        </p:nvSpPr>
        <p:spPr>
          <a:xfrm>
            <a:off x="5989320" y="37033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Alta rechazada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 ya está registrado</a:t>
            </a:r>
            <a:endParaRPr lang="en-US" sz="1400" dirty="0"/>
          </a:p>
        </p:txBody>
      </p:sp>
      <p:sp>
        <p:nvSpPr>
          <p:cNvPr id="17" name="Flecha a crear"/>
          <p:cNvSpPr/>
          <p:nvPr/>
        </p:nvSpPr>
        <p:spPr>
          <a:xfrm flipV="1">
            <a:off x="5532120" y="1783080"/>
            <a:ext cx="365760" cy="11887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Flecha a reanudar"/>
          <p:cNvSpPr/>
          <p:nvPr/>
        </p:nvSpPr>
        <p:spPr>
          <a:xfrm>
            <a:off x="5532120" y="2971800"/>
            <a:ext cx="3657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Flecha a rechazo"/>
          <p:cNvSpPr/>
          <p:nvPr/>
        </p:nvSpPr>
        <p:spPr>
          <a:xfrm>
            <a:off x="5532120" y="2971800"/>
            <a:ext cx="365760" cy="11887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Paso datos generales"/>
          <p:cNvSpPr/>
          <p:nvPr/>
        </p:nvSpPr>
        <p:spPr>
          <a:xfrm>
            <a:off x="772668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aso datos generales texto"/>
          <p:cNvSpPr txBox="1"/>
          <p:nvPr/>
        </p:nvSpPr>
        <p:spPr>
          <a:xfrm>
            <a:off x="781812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3. Datos Generales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teléfonos y cédula fiscal</a:t>
            </a:r>
            <a:endParaRPr lang="en-US" sz="1400" dirty="0"/>
          </a:p>
        </p:txBody>
      </p:sp>
      <p:sp>
        <p:nvSpPr>
          <p:cNvPr id="22" name="Flecha crear a datos"/>
          <p:cNvSpPr/>
          <p:nvPr/>
        </p:nvSpPr>
        <p:spPr>
          <a:xfrm>
            <a:off x="7498080" y="1783080"/>
            <a:ext cx="228600" cy="10515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Flecha reanudar a datos"/>
          <p:cNvSpPr/>
          <p:nvPr/>
        </p:nvSpPr>
        <p:spPr>
          <a:xfrm>
            <a:off x="7498080" y="2971800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Paso CUCoP"/>
          <p:cNvSpPr/>
          <p:nvPr/>
        </p:nvSpPr>
        <p:spPr>
          <a:xfrm>
            <a:off x="955548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Paso CUCoP texto"/>
          <p:cNvSpPr txBox="1"/>
          <p:nvPr/>
        </p:nvSpPr>
        <p:spPr>
          <a:xfrm>
            <a:off x="964692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 CUCoP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participación y partidas</a:t>
            </a:r>
            <a:endParaRPr lang="en-US" sz="1400" dirty="0"/>
          </a:p>
        </p:txBody>
      </p:sp>
      <p:sp>
        <p:nvSpPr>
          <p:cNvPr id="26" name="Flecha datos a CUCoP"/>
          <p:cNvSpPr/>
          <p:nvPr/>
        </p:nvSpPr>
        <p:spPr>
          <a:xfrm>
            <a:off x="9326880" y="2971800"/>
            <a:ext cx="22860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Paso contactos"/>
          <p:cNvSpPr/>
          <p:nvPr/>
        </p:nvSpPr>
        <p:spPr>
          <a:xfrm>
            <a:off x="9555480" y="416052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8" name="Paso contactos texto"/>
          <p:cNvSpPr txBox="1"/>
          <p:nvPr/>
        </p:nvSpPr>
        <p:spPr>
          <a:xfrm>
            <a:off x="9646920" y="4160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Contactos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siguiente etapa</a:t>
            </a:r>
            <a:endParaRPr lang="en-US" sz="1400" dirty="0"/>
          </a:p>
        </p:txBody>
      </p:sp>
      <p:sp>
        <p:nvSpPr>
          <p:cNvPr id="29" name="Flecha CUCoP a contactos"/>
          <p:cNvSpPr/>
          <p:nvPr/>
        </p:nvSpPr>
        <p:spPr>
          <a:xfrm>
            <a:off x="10355580" y="3429000"/>
            <a:ext cx="0" cy="7315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Nota flujo 0 círculo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Nota flujo 0 icono" descr="Nota flujo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5479999"/>
            <a:ext cx="241402" cy="241402"/>
          </a:xfrm>
          <a:prstGeom prst="rect">
            <a:avLst/>
          </a:prstGeom>
        </p:spPr>
      </p:pic>
      <p:sp>
        <p:nvSpPr>
          <p:cNvPr id="32" name="Texto nota 0"/>
          <p:cNvSpPr txBox="1"/>
          <p:nvPr/>
        </p:nvSpPr>
        <p:spPr>
          <a:xfrm>
            <a:off x="1188720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acceso tras firmar dura 60 minutos; volver a firmar abre otra sesión.</a:t>
            </a:r>
            <a:endParaRPr lang="en-US" sz="1300" dirty="0"/>
          </a:p>
        </p:txBody>
      </p:sp>
      <p:sp>
        <p:nvSpPr>
          <p:cNvPr id="33" name="Nota flujo 1 círculo"/>
          <p:cNvSpPr/>
          <p:nvPr/>
        </p:nvSpPr>
        <p:spPr>
          <a:xfrm>
            <a:off x="4297680" y="5349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Nota flujo 1 icono" descr="Nota flujo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39" y="5479999"/>
            <a:ext cx="241402" cy="241402"/>
          </a:xfrm>
          <a:prstGeom prst="rect">
            <a:avLst/>
          </a:prstGeom>
        </p:spPr>
      </p:pic>
      <p:sp>
        <p:nvSpPr>
          <p:cNvPr id="35" name="Texto nota 1"/>
          <p:cNvSpPr txBox="1"/>
          <p:nvPr/>
        </p:nvSpPr>
        <p:spPr>
          <a:xfrm>
            <a:off x="4937760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sección se guarda al pulsar Siguiente; Atrás no guarda.</a:t>
            </a:r>
            <a:endParaRPr lang="en-US" sz="1300" dirty="0"/>
          </a:p>
        </p:txBody>
      </p:sp>
      <p:sp>
        <p:nvSpPr>
          <p:cNvPr id="36" name="Nota flujo 2 círculo"/>
          <p:cNvSpPr/>
          <p:nvPr/>
        </p:nvSpPr>
        <p:spPr>
          <a:xfrm>
            <a:off x="8046720" y="5349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Nota flujo 2 icono" descr="Nota flujo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479" y="5479999"/>
            <a:ext cx="241402" cy="241402"/>
          </a:xfrm>
          <a:prstGeom prst="rect">
            <a:avLst/>
          </a:prstGeom>
        </p:spPr>
      </p:pic>
      <p:sp>
        <p:nvSpPr>
          <p:cNvPr id="38" name="Texto nota 2"/>
          <p:cNvSpPr txBox="1"/>
          <p:nvPr/>
        </p:nvSpPr>
        <p:spPr>
          <a:xfrm>
            <a:off x="8686800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 retomar, el proveedor vuelve a aceptar el aviso y a firmar.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expediente y su avance por secciones</a:t>
            </a:r>
            <a:endParaRPr lang="en-US" sz="3200" dirty="0"/>
          </a:p>
        </p:txBody>
      </p:sp>
      <p:sp>
        <p:nvSpPr>
          <p:cNvPr id="3" name="Estado Sin expediente"/>
          <p:cNvSpPr/>
          <p:nvPr/>
        </p:nvSpPr>
        <p:spPr>
          <a:xfrm>
            <a:off x="822960" y="1463040"/>
            <a:ext cx="2926080" cy="10972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4" name="Texto estado Sin expediente"/>
          <p:cNvSpPr txBox="1"/>
          <p:nvPr/>
        </p:nvSpPr>
        <p:spPr>
          <a:xfrm>
            <a:off x="822960" y="1463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Sin expediente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aún no existe</a:t>
            </a:r>
            <a:endParaRPr lang="en-US" sz="2000" dirty="0"/>
          </a:p>
        </p:txBody>
      </p:sp>
      <p:sp>
        <p:nvSpPr>
          <p:cNvPr id="5" name="Estado En captura"/>
          <p:cNvSpPr/>
          <p:nvPr/>
        </p:nvSpPr>
        <p:spPr>
          <a:xfrm>
            <a:off x="4617720" y="1463040"/>
            <a:ext cx="2926080" cy="10972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o estado En captura"/>
          <p:cNvSpPr txBox="1"/>
          <p:nvPr/>
        </p:nvSpPr>
        <p:spPr>
          <a:xfrm>
            <a:off x="4617720" y="1463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En captura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 guarda y se retoma</a:t>
            </a:r>
            <a:endParaRPr lang="en-US" sz="2000" dirty="0"/>
          </a:p>
        </p:txBody>
      </p:sp>
      <p:sp>
        <p:nvSpPr>
          <p:cNvPr id="7" name="Estado Registrado"/>
          <p:cNvSpPr/>
          <p:nvPr/>
        </p:nvSpPr>
        <p:spPr>
          <a:xfrm>
            <a:off x="8412480" y="1463040"/>
            <a:ext cx="2926080" cy="10972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o estado Registrado"/>
          <p:cNvSpPr txBox="1"/>
          <p:nvPr/>
        </p:nvSpPr>
        <p:spPr>
          <a:xfrm>
            <a:off x="8412480" y="1463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Registrado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registro finalizado</a:t>
            </a:r>
            <a:endParaRPr lang="en-US" sz="2000" dirty="0"/>
          </a:p>
        </p:txBody>
      </p:sp>
      <p:sp>
        <p:nvSpPr>
          <p:cNvPr id="9" name="Flecha crear"/>
          <p:cNvSpPr/>
          <p:nvPr/>
        </p:nvSpPr>
        <p:spPr>
          <a:xfrm>
            <a:off x="3794760" y="2011680"/>
            <a:ext cx="777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Etiqueta crear"/>
          <p:cNvSpPr txBox="1"/>
          <p:nvPr/>
        </p:nvSpPr>
        <p:spPr>
          <a:xfrm>
            <a:off x="3703320" y="1600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Crear</a:t>
            </a:r>
            <a:endParaRPr lang="en-US" sz="1200" dirty="0"/>
          </a:p>
        </p:txBody>
      </p:sp>
      <p:sp>
        <p:nvSpPr>
          <p:cNvPr id="11" name="Flecha finalizar"/>
          <p:cNvSpPr/>
          <p:nvPr/>
        </p:nvSpPr>
        <p:spPr>
          <a:xfrm>
            <a:off x="7589520" y="2011680"/>
            <a:ext cx="777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Etiqueta finalizar"/>
          <p:cNvSpPr txBox="1"/>
          <p:nvPr/>
        </p:nvSpPr>
        <p:spPr>
          <a:xfrm>
            <a:off x="7452360" y="16002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Finalizar</a:t>
            </a:r>
            <a:endParaRPr lang="en-US" sz="1200" dirty="0"/>
          </a:p>
        </p:txBody>
      </p:sp>
      <p:sp>
        <p:nvSpPr>
          <p:cNvPr id="13" name="Etiqueta etapa 2"/>
          <p:cNvSpPr txBox="1"/>
          <p:nvPr/>
        </p:nvSpPr>
        <p:spPr>
          <a:xfrm>
            <a:off x="7452360" y="21031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Etapa 2</a:t>
            </a:r>
            <a:endParaRPr lang="en-US" sz="1100" dirty="0"/>
          </a:p>
        </p:txBody>
      </p:sp>
      <p:sp>
        <p:nvSpPr>
          <p:cNvPr id="14" name="Etiqueta reanudar"/>
          <p:cNvSpPr txBox="1"/>
          <p:nvPr/>
        </p:nvSpPr>
        <p:spPr>
          <a:xfrm>
            <a:off x="429768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Reanudar: mismo expediente, mismos datos y avance</a:t>
            </a:r>
            <a:endParaRPr lang="en-US" sz="1300" dirty="0"/>
          </a:p>
        </p:txBody>
      </p:sp>
      <p:sp>
        <p:nvSpPr>
          <p:cNvPr id="15" name="Encabezado secciones"/>
          <p:cNvSpPr txBox="1"/>
          <p:nvPr/>
        </p:nvSpPr>
        <p:spPr>
          <a:xfrm>
            <a:off x="54864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Secciones del asistente</a:t>
            </a:r>
            <a:endParaRPr lang="en-US" sz="1800" dirty="0"/>
          </a:p>
        </p:txBody>
      </p:sp>
      <p:sp>
        <p:nvSpPr>
          <p:cNvPr id="16" name="Sección Datos Generales"/>
          <p:cNvSpPr/>
          <p:nvPr/>
        </p:nvSpPr>
        <p:spPr>
          <a:xfrm>
            <a:off x="548640" y="388620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o sección Datos Generales"/>
          <p:cNvSpPr txBox="1"/>
          <p:nvPr/>
        </p:nvSpPr>
        <p:spPr>
          <a:xfrm>
            <a:off x="640080" y="3886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Datos Generales</a:t>
            </a:r>
            <a:endParaRPr lang="en-US" sz="1800" dirty="0"/>
          </a:p>
        </p:txBody>
      </p:sp>
      <p:sp>
        <p:nvSpPr>
          <p:cNvPr id="18" name="Sección CUCoP"/>
          <p:cNvSpPr/>
          <p:nvPr/>
        </p:nvSpPr>
        <p:spPr>
          <a:xfrm>
            <a:off x="2404872" y="388620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o sección CUCoP"/>
          <p:cNvSpPr txBox="1"/>
          <p:nvPr/>
        </p:nvSpPr>
        <p:spPr>
          <a:xfrm>
            <a:off x="2496312" y="3886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CUCoP</a:t>
            </a:r>
            <a:endParaRPr lang="en-US" sz="1800" dirty="0"/>
          </a:p>
        </p:txBody>
      </p:sp>
      <p:sp>
        <p:nvSpPr>
          <p:cNvPr id="20" name="Sección Contactos"/>
          <p:cNvSpPr/>
          <p:nvPr/>
        </p:nvSpPr>
        <p:spPr>
          <a:xfrm>
            <a:off x="4261104" y="388620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1" name="Texto sección Contactos"/>
          <p:cNvSpPr txBox="1"/>
          <p:nvPr/>
        </p:nvSpPr>
        <p:spPr>
          <a:xfrm>
            <a:off x="4352544" y="3886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Contactos</a:t>
            </a:r>
            <a:endParaRPr lang="en-US" sz="1800" dirty="0"/>
          </a:p>
        </p:txBody>
      </p:sp>
      <p:sp>
        <p:nvSpPr>
          <p:cNvPr id="22" name="Sección Domicilio fiscal"/>
          <p:cNvSpPr/>
          <p:nvPr/>
        </p:nvSpPr>
        <p:spPr>
          <a:xfrm>
            <a:off x="6117336" y="388620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3" name="Texto sección Domicilio fiscal"/>
          <p:cNvSpPr txBox="1"/>
          <p:nvPr/>
        </p:nvSpPr>
        <p:spPr>
          <a:xfrm>
            <a:off x="6208776" y="3886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Domicilio fiscal</a:t>
            </a:r>
            <a:endParaRPr lang="en-US" sz="1800" dirty="0"/>
          </a:p>
        </p:txBody>
      </p:sp>
      <p:sp>
        <p:nvSpPr>
          <p:cNvPr id="24" name="Sección Cobertura"/>
          <p:cNvSpPr/>
          <p:nvPr/>
        </p:nvSpPr>
        <p:spPr>
          <a:xfrm>
            <a:off x="7973568" y="388620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5" name="Texto sección Cobertura"/>
          <p:cNvSpPr txBox="1"/>
          <p:nvPr/>
        </p:nvSpPr>
        <p:spPr>
          <a:xfrm>
            <a:off x="8065008" y="3886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5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Cobertura</a:t>
            </a:r>
            <a:endParaRPr lang="en-US" sz="1800" dirty="0"/>
          </a:p>
        </p:txBody>
      </p:sp>
      <p:sp>
        <p:nvSpPr>
          <p:cNvPr id="26" name="Sección Firma Electrónica"/>
          <p:cNvSpPr/>
          <p:nvPr/>
        </p:nvSpPr>
        <p:spPr>
          <a:xfrm>
            <a:off x="9829800" y="388620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7" name="Texto sección Firma Electrónica"/>
          <p:cNvSpPr txBox="1"/>
          <p:nvPr/>
        </p:nvSpPr>
        <p:spPr>
          <a:xfrm>
            <a:off x="9921240" y="3886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Firma Electrónica</a:t>
            </a:r>
            <a:endParaRPr lang="en-US" sz="1800" dirty="0"/>
          </a:p>
        </p:txBody>
      </p:sp>
      <p:sp>
        <p:nvSpPr>
          <p:cNvPr id="28" name="Etiqueta etapa 1"/>
          <p:cNvSpPr txBox="1"/>
          <p:nvPr/>
        </p:nvSpPr>
        <p:spPr>
          <a:xfrm>
            <a:off x="548640" y="5029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Etapa 1</a:t>
            </a:r>
            <a:endParaRPr lang="en-US" sz="1300" dirty="0"/>
          </a:p>
        </p:txBody>
      </p:sp>
      <p:sp>
        <p:nvSpPr>
          <p:cNvPr id="29" name="Etiqueta etapa 2 secciones"/>
          <p:cNvSpPr txBox="1"/>
          <p:nvPr/>
        </p:nvSpPr>
        <p:spPr>
          <a:xfrm>
            <a:off x="4261104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Etapa 2: requiere especificación</a:t>
            </a:r>
            <a:endParaRPr lang="en-US" sz="1300" dirty="0"/>
          </a:p>
        </p:txBody>
      </p:sp>
      <p:sp>
        <p:nvSpPr>
          <p:cNvPr id="30" name="Regla de avance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sección pasa de Pendiente a Completada solo al guardarse bien con Siguiente. El estado del expediente no cambia por avanzar de sección.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Generales: se pide solo lo que aplica</a:t>
            </a:r>
            <a:endParaRPr lang="en-US" sz="3200" dirty="0"/>
          </a:p>
        </p:txBody>
      </p:sp>
      <p:sp>
        <p:nvSpPr>
          <p:cNvPr id="3" name="Identidad"/>
          <p:cNvSpPr/>
          <p:nvPr/>
        </p:nvSpPr>
        <p:spPr>
          <a:xfrm>
            <a:off x="548640" y="1371600"/>
            <a:ext cx="38404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dentidad de solo lectura círculo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dentidad de solo lectura icono" descr="Identidad de solo l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754734"/>
            <a:ext cx="285293" cy="285293"/>
          </a:xfrm>
          <a:prstGeom prst="rect">
            <a:avLst/>
          </a:prstGeom>
        </p:spPr>
      </p:pic>
      <p:sp>
        <p:nvSpPr>
          <p:cNvPr id="6" name="Encabezado identidad"/>
          <p:cNvSpPr txBox="1"/>
          <p:nvPr/>
        </p:nvSpPr>
        <p:spPr>
          <a:xfrm>
            <a:off x="155448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Identidad de solo lectura</a:t>
            </a:r>
            <a:endParaRPr lang="en-US" sz="1700" dirty="0"/>
          </a:p>
        </p:txBody>
      </p:sp>
      <p:sp>
        <p:nvSpPr>
          <p:cNvPr id="7" name="Detalle identidad"/>
          <p:cNvSpPr txBox="1"/>
          <p:nvPr/>
        </p:nvSpPr>
        <p:spPr>
          <a:xfrm>
            <a:off x="822960" y="2331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RFC, razón social, régimen y usuario salen de la e.firma y no se editan.</a:t>
            </a:r>
            <a:endParaRPr lang="en-US" sz="1400" dirty="0"/>
          </a:p>
        </p:txBody>
      </p:sp>
      <p:sp>
        <p:nvSpPr>
          <p:cNvPr id="8" name="Cédula"/>
          <p:cNvSpPr/>
          <p:nvPr/>
        </p:nvSpPr>
        <p:spPr>
          <a:xfrm>
            <a:off x="548640" y="3703320"/>
            <a:ext cx="38404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édula fiscal círculo"/>
          <p:cNvSpPr/>
          <p:nvPr/>
        </p:nvSpPr>
        <p:spPr>
          <a:xfrm>
            <a:off x="822960" y="393192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Cédula fiscal icono" descr="Cédula fisc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4" y="4086454"/>
            <a:ext cx="285293" cy="285293"/>
          </a:xfrm>
          <a:prstGeom prst="rect">
            <a:avLst/>
          </a:prstGeom>
        </p:spPr>
      </p:pic>
      <p:sp>
        <p:nvSpPr>
          <p:cNvPr id="11" name="Encabezado cédula"/>
          <p:cNvSpPr txBox="1"/>
          <p:nvPr/>
        </p:nvSpPr>
        <p:spPr>
          <a:xfrm>
            <a:off x="155448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Cédula fiscal</a:t>
            </a:r>
            <a:endParaRPr lang="en-US" sz="1700" dirty="0"/>
          </a:p>
        </p:txBody>
      </p:sp>
      <p:sp>
        <p:nvSpPr>
          <p:cNvPr id="12" name="Detalle cédula"/>
          <p:cNvSpPr txBox="1"/>
          <p:nvPr/>
        </p:nvSpPr>
        <p:spPr>
          <a:xfrm>
            <a:off x="822960" y="4663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PDF obligatorio de hasta 5 MiB. Se guarda al cargarlo; eliminarlo regresa la sección a pendiente.</a:t>
            </a:r>
            <a:endParaRPr lang="en-US" sz="1400" dirty="0"/>
          </a:p>
        </p:txBody>
      </p:sp>
      <p:sp>
        <p:nvSpPr>
          <p:cNvPr id="13" name="Caso Persona moral"/>
          <p:cNvSpPr/>
          <p:nvPr/>
        </p:nvSpPr>
        <p:spPr>
          <a:xfrm>
            <a:off x="4663440" y="137160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ersona moral círculo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Persona moral icono" descr="Persona mor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86" y="1742846"/>
            <a:ext cx="263347" cy="263347"/>
          </a:xfrm>
          <a:prstGeom prst="rect">
            <a:avLst/>
          </a:prstGeom>
        </p:spPr>
      </p:pic>
      <p:sp>
        <p:nvSpPr>
          <p:cNvPr id="16" name="Nombre Persona moral"/>
          <p:cNvSpPr txBox="1"/>
          <p:nvPr/>
        </p:nvSpPr>
        <p:spPr>
          <a:xfrm>
            <a:off x="557784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Persona moral</a:t>
            </a:r>
            <a:endParaRPr lang="en-US" sz="1600" dirty="0"/>
          </a:p>
        </p:txBody>
      </p:sp>
      <p:sp>
        <p:nvSpPr>
          <p:cNvPr id="17" name="Sub Persona moral"/>
          <p:cNvSpPr txBox="1"/>
          <p:nvPr/>
        </p:nvSpPr>
        <p:spPr>
          <a:xfrm>
            <a:off x="55778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RFC de 12 caracteres</a:t>
            </a:r>
            <a:endParaRPr lang="en-US" sz="1200" dirty="0"/>
          </a:p>
        </p:txBody>
      </p:sp>
      <p:sp>
        <p:nvSpPr>
          <p:cNvPr id="18" name="Reglas Persona moral"/>
          <p:cNvSpPr txBox="1"/>
          <p:nvPr/>
        </p:nvSpPr>
        <p:spPr>
          <a:xfrm>
            <a:off x="4937760" y="2331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Sector y subsector obligatorios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 menos un teléfono de 10 dígitos</a:t>
            </a:r>
            <a:endParaRPr lang="en-US" sz="1300" dirty="0"/>
          </a:p>
        </p:txBody>
      </p:sp>
      <p:sp>
        <p:nvSpPr>
          <p:cNvPr id="19" name="Caso Persona física"/>
          <p:cNvSpPr/>
          <p:nvPr/>
        </p:nvSpPr>
        <p:spPr>
          <a:xfrm>
            <a:off x="8183880" y="137160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ersona física círculo"/>
          <p:cNvSpPr/>
          <p:nvPr/>
        </p:nvSpPr>
        <p:spPr>
          <a:xfrm>
            <a:off x="841248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Persona física icono" descr="Persona físi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26" y="1742846"/>
            <a:ext cx="263347" cy="263347"/>
          </a:xfrm>
          <a:prstGeom prst="rect">
            <a:avLst/>
          </a:prstGeom>
        </p:spPr>
      </p:pic>
      <p:sp>
        <p:nvSpPr>
          <p:cNvPr id="22" name="Nombre Persona física"/>
          <p:cNvSpPr txBox="1"/>
          <p:nvPr/>
        </p:nvSpPr>
        <p:spPr>
          <a:xfrm>
            <a:off x="909828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Persona física</a:t>
            </a:r>
            <a:endParaRPr lang="en-US" sz="1600" dirty="0"/>
          </a:p>
        </p:txBody>
      </p:sp>
      <p:sp>
        <p:nvSpPr>
          <p:cNvPr id="23" name="Sub Persona física"/>
          <p:cNvSpPr txBox="1"/>
          <p:nvPr/>
        </p:nvSpPr>
        <p:spPr>
          <a:xfrm>
            <a:off x="90982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RFC de 13 caracteres</a:t>
            </a:r>
            <a:endParaRPr lang="en-US" sz="1200" dirty="0"/>
          </a:p>
        </p:txBody>
      </p:sp>
      <p:sp>
        <p:nvSpPr>
          <p:cNvPr id="24" name="Reglas Persona física"/>
          <p:cNvSpPr txBox="1"/>
          <p:nvPr/>
        </p:nvSpPr>
        <p:spPr>
          <a:xfrm>
            <a:off x="8458200" y="23317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 sector, subsector ni teléfonos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Mismos catálogos para lo demás</a:t>
            </a:r>
            <a:endParaRPr lang="en-US" sz="1300" dirty="0"/>
          </a:p>
        </p:txBody>
      </p:sp>
      <p:sp>
        <p:nvSpPr>
          <p:cNvPr id="25" name="Caso Nacional"/>
          <p:cNvSpPr/>
          <p:nvPr/>
        </p:nvSpPr>
        <p:spPr>
          <a:xfrm>
            <a:off x="4663440" y="370332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Nacional círculo"/>
          <p:cNvSpPr/>
          <p:nvPr/>
        </p:nvSpPr>
        <p:spPr>
          <a:xfrm>
            <a:off x="4892040" y="3931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Nacional icono" descr="Nacion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686" y="4074566"/>
            <a:ext cx="263347" cy="263347"/>
          </a:xfrm>
          <a:prstGeom prst="rect">
            <a:avLst/>
          </a:prstGeom>
        </p:spPr>
      </p:pic>
      <p:sp>
        <p:nvSpPr>
          <p:cNvPr id="28" name="Nombre Nacional"/>
          <p:cNvSpPr txBox="1"/>
          <p:nvPr/>
        </p:nvSpPr>
        <p:spPr>
          <a:xfrm>
            <a:off x="5577840" y="3904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Nacional</a:t>
            </a:r>
            <a:endParaRPr lang="en-US" sz="1600" dirty="0"/>
          </a:p>
        </p:txBody>
      </p:sp>
      <p:sp>
        <p:nvSpPr>
          <p:cNvPr id="29" name="Sub Nacional"/>
          <p:cNvSpPr txBox="1"/>
          <p:nvPr/>
        </p:nvSpPr>
        <p:spPr>
          <a:xfrm>
            <a:off x="557784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Origen México</a:t>
            </a:r>
            <a:endParaRPr lang="en-US" sz="1200" dirty="0"/>
          </a:p>
        </p:txBody>
      </p:sp>
      <p:sp>
        <p:nvSpPr>
          <p:cNvPr id="30" name="Reglas Nacional"/>
          <p:cNvSpPr txBox="1"/>
          <p:nvPr/>
        </p:nvSpPr>
        <p:spPr>
          <a:xfrm>
            <a:off x="4937760" y="4663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Nacionalidad Mexicana y país México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Titularidad según país y régimen</a:t>
            </a:r>
            <a:endParaRPr lang="en-US" sz="1300" dirty="0"/>
          </a:p>
        </p:txBody>
      </p:sp>
      <p:sp>
        <p:nvSpPr>
          <p:cNvPr id="31" name="Caso Extranjero"/>
          <p:cNvSpPr/>
          <p:nvPr/>
        </p:nvSpPr>
        <p:spPr>
          <a:xfrm>
            <a:off x="8183880" y="3703320"/>
            <a:ext cx="32918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Extranjero círculo"/>
          <p:cNvSpPr/>
          <p:nvPr/>
        </p:nvSpPr>
        <p:spPr>
          <a:xfrm>
            <a:off x="8412480" y="3931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Extranjero icono" descr="Extranjer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5126" y="4074566"/>
            <a:ext cx="263347" cy="263347"/>
          </a:xfrm>
          <a:prstGeom prst="rect">
            <a:avLst/>
          </a:prstGeom>
        </p:spPr>
      </p:pic>
      <p:sp>
        <p:nvSpPr>
          <p:cNvPr id="34" name="Nombre Extranjero"/>
          <p:cNvSpPr txBox="1"/>
          <p:nvPr/>
        </p:nvSpPr>
        <p:spPr>
          <a:xfrm>
            <a:off x="9098280" y="3904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Extranjero</a:t>
            </a:r>
            <a:endParaRPr lang="en-US" sz="1600" dirty="0"/>
          </a:p>
        </p:txBody>
      </p:sp>
      <p:sp>
        <p:nvSpPr>
          <p:cNvPr id="35" name="Sub Extranjero"/>
          <p:cNvSpPr txBox="1"/>
          <p:nvPr/>
        </p:nvSpPr>
        <p:spPr>
          <a:xfrm>
            <a:off x="909828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Origen fuera de México</a:t>
            </a:r>
            <a:endParaRPr lang="en-US" sz="1200" dirty="0"/>
          </a:p>
        </p:txBody>
      </p:sp>
      <p:sp>
        <p:nvSpPr>
          <p:cNvPr id="36" name="Reglas Extranjero"/>
          <p:cNvSpPr txBox="1"/>
          <p:nvPr/>
        </p:nvSpPr>
        <p:spPr>
          <a:xfrm>
            <a:off x="8458200" y="4663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País del catálogo y código fiscal extranjero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Titularidad del país o genérica (NOT_DEF)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Participación: qué ofrece el proveedor</a:t>
            </a:r>
            <a:endParaRPr lang="en-US" sz="3200" dirty="0"/>
          </a:p>
        </p:txBody>
      </p:sp>
      <p:sp>
        <p:nvSpPr>
          <p:cNvPr id="3" name="Encabezado tipos"/>
          <p:cNvSpPr txBox="1"/>
          <p:nvPr/>
        </p:nvSpPr>
        <p:spPr>
          <a:xfrm>
            <a:off x="54864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Tipo de participación (uno o ambos)</a:t>
            </a:r>
            <a:endParaRPr lang="en-US" sz="1800" dirty="0"/>
          </a:p>
        </p:txBody>
      </p:sp>
      <p:sp>
        <p:nvSpPr>
          <p:cNvPr id="4" name="Tipo Proveedor"/>
          <p:cNvSpPr/>
          <p:nvPr/>
        </p:nvSpPr>
        <p:spPr>
          <a:xfrm>
            <a:off x="548640" y="1874520"/>
            <a:ext cx="4937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veedor círculo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roveedor icono" descr="Provee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396642"/>
            <a:ext cx="373075" cy="373075"/>
          </a:xfrm>
          <a:prstGeom prst="rect">
            <a:avLst/>
          </a:prstGeom>
        </p:spPr>
      </p:pic>
      <p:sp>
        <p:nvSpPr>
          <p:cNvPr id="7" name="Nombre Proveedor"/>
          <p:cNvSpPr txBox="1"/>
          <p:nvPr/>
        </p:nvSpPr>
        <p:spPr>
          <a:xfrm>
            <a:off x="178308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Proveedor</a:t>
            </a:r>
            <a:endParaRPr lang="en-US" sz="1800" dirty="0"/>
          </a:p>
        </p:txBody>
      </p:sp>
      <p:sp>
        <p:nvSpPr>
          <p:cNvPr id="8" name="Detalle Proveedor"/>
          <p:cNvSpPr txBox="1"/>
          <p:nvPr/>
        </p:nvSpPr>
        <p:spPr>
          <a:xfrm>
            <a:off x="1783080" y="25877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Adquisiciones, arrendamientos y servicios</a:t>
            </a:r>
            <a:endParaRPr lang="en-US" sz="1400" dirty="0"/>
          </a:p>
        </p:txBody>
      </p:sp>
      <p:sp>
        <p:nvSpPr>
          <p:cNvPr id="9" name="Tipo Contratista"/>
          <p:cNvSpPr/>
          <p:nvPr/>
        </p:nvSpPr>
        <p:spPr>
          <a:xfrm>
            <a:off x="548640" y="3474720"/>
            <a:ext cx="4937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ntratista círculo"/>
          <p:cNvSpPr/>
          <p:nvPr/>
        </p:nvSpPr>
        <p:spPr>
          <a:xfrm>
            <a:off x="777240" y="379476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Contratista icono" descr="Contrati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" y="3996842"/>
            <a:ext cx="373075" cy="373075"/>
          </a:xfrm>
          <a:prstGeom prst="rect">
            <a:avLst/>
          </a:prstGeom>
        </p:spPr>
      </p:pic>
      <p:sp>
        <p:nvSpPr>
          <p:cNvPr id="12" name="Nombre Contratista"/>
          <p:cNvSpPr txBox="1"/>
          <p:nvPr/>
        </p:nvSpPr>
        <p:spPr>
          <a:xfrm>
            <a:off x="1783080" y="3749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Contratista</a:t>
            </a:r>
            <a:endParaRPr lang="en-US" sz="1800" dirty="0"/>
          </a:p>
        </p:txBody>
      </p:sp>
      <p:sp>
        <p:nvSpPr>
          <p:cNvPr id="13" name="Detalle Contratista"/>
          <p:cNvSpPr txBox="1"/>
          <p:nvPr/>
        </p:nvSpPr>
        <p:spPr>
          <a:xfrm>
            <a:off x="1783080" y="41879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Obra pública o servicios relacionados</a:t>
            </a:r>
            <a:endParaRPr lang="en-US" sz="1400" dirty="0"/>
          </a:p>
        </p:txBody>
      </p:sp>
      <p:sp>
        <p:nvSpPr>
          <p:cNvPr id="14" name="Precondición"/>
          <p:cNvSpPr txBox="1"/>
          <p:nvPr/>
        </p:nvSpPr>
        <p:spPr>
          <a:xfrm>
            <a:off x="548640" y="5166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Solo se habilita con Datos Generales completos.</a:t>
            </a:r>
            <a:endParaRPr lang="en-US" sz="1400" dirty="0"/>
          </a:p>
        </p:txBody>
      </p:sp>
      <p:sp>
        <p:nvSpPr>
          <p:cNvPr id="15" name="Encabezado árbol"/>
          <p:cNvSpPr txBox="1"/>
          <p:nvPr/>
        </p:nvSpPr>
        <p:spPr>
          <a:xfrm>
            <a:off x="5943600" y="1325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Catálogo CUCoP: cuatro niveles</a:t>
            </a:r>
            <a:endParaRPr lang="en-US" sz="1800" dirty="0"/>
          </a:p>
        </p:txBody>
      </p:sp>
      <p:sp>
        <p:nvSpPr>
          <p:cNvPr id="16" name="Nivel Capítulo"/>
          <p:cNvSpPr/>
          <p:nvPr/>
        </p:nvSpPr>
        <p:spPr>
          <a:xfrm>
            <a:off x="5943600" y="1874520"/>
            <a:ext cx="5669280" cy="713232"/>
          </a:xfrm>
          <a:prstGeom prst="roundRect">
            <a:avLst>
              <a:gd name="adj" fmla="val 1282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o Capítulo"/>
          <p:cNvSpPr txBox="1"/>
          <p:nvPr/>
        </p:nvSpPr>
        <p:spPr>
          <a:xfrm>
            <a:off x="6126480" y="187452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Capítulo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2000 · Materiales y suministros</a:t>
            </a:r>
            <a:endParaRPr lang="en-US" sz="1400" dirty="0"/>
          </a:p>
        </p:txBody>
      </p:sp>
      <p:sp>
        <p:nvSpPr>
          <p:cNvPr id="18" name="Nivel Concepto"/>
          <p:cNvSpPr/>
          <p:nvPr/>
        </p:nvSpPr>
        <p:spPr>
          <a:xfrm>
            <a:off x="6355080" y="2743200"/>
            <a:ext cx="5257800" cy="713232"/>
          </a:xfrm>
          <a:prstGeom prst="roundRect">
            <a:avLst>
              <a:gd name="adj" fmla="val 1282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o Concepto"/>
          <p:cNvSpPr txBox="1"/>
          <p:nvPr/>
        </p:nvSpPr>
        <p:spPr>
          <a:xfrm>
            <a:off x="6537960" y="27432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Concepto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2100 · Materiales de administración y documentos</a:t>
            </a:r>
            <a:endParaRPr lang="en-US" sz="1400" dirty="0"/>
          </a:p>
        </p:txBody>
      </p:sp>
      <p:sp>
        <p:nvSpPr>
          <p:cNvPr id="20" name="Nivel Partida genérica"/>
          <p:cNvSpPr/>
          <p:nvPr/>
        </p:nvSpPr>
        <p:spPr>
          <a:xfrm>
            <a:off x="6766560" y="3611880"/>
            <a:ext cx="4846320" cy="713232"/>
          </a:xfrm>
          <a:prstGeom prst="roundRect">
            <a:avLst>
              <a:gd name="adj" fmla="val 128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o Partida genérica"/>
          <p:cNvSpPr txBox="1"/>
          <p:nvPr/>
        </p:nvSpPr>
        <p:spPr>
          <a:xfrm>
            <a:off x="6949440" y="36118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Partida genérica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2110 · Materiales, útiles y equipos menores de oficina</a:t>
            </a:r>
            <a:endParaRPr lang="en-US" sz="1400" dirty="0"/>
          </a:p>
        </p:txBody>
      </p:sp>
      <p:sp>
        <p:nvSpPr>
          <p:cNvPr id="22" name="Nivel Partida específica"/>
          <p:cNvSpPr/>
          <p:nvPr/>
        </p:nvSpPr>
        <p:spPr>
          <a:xfrm>
            <a:off x="7178040" y="4480560"/>
            <a:ext cx="4434840" cy="713232"/>
          </a:xfrm>
          <a:prstGeom prst="roundRect">
            <a:avLst>
              <a:gd name="adj" fmla="val 128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o Partida específica"/>
          <p:cNvSpPr txBox="1"/>
          <p:nvPr/>
        </p:nvSpPr>
        <p:spPr>
          <a:xfrm>
            <a:off x="7360920" y="448056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Partida específica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21101 · Materiales y útiles de oficina</a:t>
            </a:r>
            <a:endParaRPr lang="en-US" sz="1400" dirty="0"/>
          </a:p>
        </p:txBody>
      </p:sp>
      <p:sp>
        <p:nvSpPr>
          <p:cNvPr id="24" name="Regla selección"/>
          <p:cNvSpPr txBox="1"/>
          <p:nvPr/>
        </p:nvSpPr>
        <p:spPr>
          <a:xfrm>
            <a:off x="5943600" y="5440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seleccionan partidas específicas; marcar una genérica marca todas sus específicas. Búsqueda por clave o palabra.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negocio clave</a:t>
            </a:r>
            <a:endParaRPr lang="en-US" sz="3200" dirty="0"/>
          </a:p>
        </p:txBody>
      </p:sp>
      <p:sp>
        <p:nvSpPr>
          <p:cNvPr id="3" name="Regla Un RFC, un expediente"/>
          <p:cNvSpPr/>
          <p:nvPr/>
        </p:nvSpPr>
        <p:spPr>
          <a:xfrm>
            <a:off x="54864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n RFC, un expediente círculo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Un RFC, un expediente icono" descr="Un RFC, un exped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58061"/>
            <a:ext cx="307238" cy="307238"/>
          </a:xfrm>
          <a:prstGeom prst="rect">
            <a:avLst/>
          </a:prstGeom>
        </p:spPr>
      </p:pic>
      <p:sp>
        <p:nvSpPr>
          <p:cNvPr id="6" name="Nombre Un RFC, un expediente"/>
          <p:cNvSpPr txBox="1"/>
          <p:nvPr/>
        </p:nvSpPr>
        <p:spPr>
          <a:xfrm>
            <a:off x="1645920" y="1709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RFC, un expediente</a:t>
            </a:r>
            <a:endParaRPr lang="en-US" sz="1600" dirty="0"/>
          </a:p>
        </p:txBody>
      </p:sp>
      <p:sp>
        <p:nvSpPr>
          <p:cNvPr id="7" name="Descripción Un RFC, un expediente"/>
          <p:cNvSpPr txBox="1"/>
          <p:nvPr/>
        </p:nvSpPr>
        <p:spPr>
          <a:xfrm>
            <a:off x="8229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RFC es único e inmutable; nunca se crea un segundo registro.</a:t>
            </a:r>
            <a:endParaRPr lang="en-US" sz="1400" dirty="0"/>
          </a:p>
        </p:txBody>
      </p:sp>
      <p:sp>
        <p:nvSpPr>
          <p:cNvPr id="8" name="Regla Aviso antes de firmar"/>
          <p:cNvSpPr/>
          <p:nvPr/>
        </p:nvSpPr>
        <p:spPr>
          <a:xfrm>
            <a:off x="429768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viso antes de firmar círculo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viso antes de firmar icono" descr="Aviso antes de firm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1858061"/>
            <a:ext cx="307238" cy="307238"/>
          </a:xfrm>
          <a:prstGeom prst="rect">
            <a:avLst/>
          </a:prstGeom>
        </p:spPr>
      </p:pic>
      <p:sp>
        <p:nvSpPr>
          <p:cNvPr id="11" name="Nombre Aviso antes de firmar"/>
          <p:cNvSpPr txBox="1"/>
          <p:nvPr/>
        </p:nvSpPr>
        <p:spPr>
          <a:xfrm>
            <a:off x="5394960" y="1709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Aviso antes de firmar</a:t>
            </a:r>
            <a:endParaRPr lang="en-US" sz="1600" dirty="0"/>
          </a:p>
        </p:txBody>
      </p:sp>
      <p:sp>
        <p:nvSpPr>
          <p:cNvPr id="12" name="Descripción Aviso antes de firmar"/>
          <p:cNvSpPr txBox="1"/>
          <p:nvPr/>
        </p:nvSpPr>
        <p:spPr>
          <a:xfrm>
            <a:off x="457200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identificación exige aceptar la Política de Aviso v1.0.</a:t>
            </a:r>
            <a:endParaRPr lang="en-US" sz="1400" dirty="0"/>
          </a:p>
        </p:txBody>
      </p:sp>
      <p:sp>
        <p:nvSpPr>
          <p:cNvPr id="13" name="Regla Identidad del certificado"/>
          <p:cNvSpPr/>
          <p:nvPr/>
        </p:nvSpPr>
        <p:spPr>
          <a:xfrm>
            <a:off x="804672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dentidad del certificado círculo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dentidad del certificado icono" descr="Identidad del certific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1858061"/>
            <a:ext cx="307238" cy="307238"/>
          </a:xfrm>
          <a:prstGeom prst="rect">
            <a:avLst/>
          </a:prstGeom>
        </p:spPr>
      </p:pic>
      <p:sp>
        <p:nvSpPr>
          <p:cNvPr id="16" name="Nombre Identidad del certificado"/>
          <p:cNvSpPr txBox="1"/>
          <p:nvPr/>
        </p:nvSpPr>
        <p:spPr>
          <a:xfrm>
            <a:off x="9144000" y="1709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Identidad del certificado</a:t>
            </a:r>
            <a:endParaRPr lang="en-US" sz="1600" dirty="0"/>
          </a:p>
        </p:txBody>
      </p:sp>
      <p:sp>
        <p:nvSpPr>
          <p:cNvPr id="17" name="Descripción Identidad del certificado"/>
          <p:cNvSpPr txBox="1"/>
          <p:nvPr/>
        </p:nvSpPr>
        <p:spPr>
          <a:xfrm>
            <a:off x="832104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razón social sale del certificado verificado, no del formulario.</a:t>
            </a:r>
            <a:endParaRPr lang="en-US" sz="1400" dirty="0"/>
          </a:p>
        </p:txBody>
      </p:sp>
      <p:sp>
        <p:nvSpPr>
          <p:cNvPr id="18" name="Regla Acceso de 60 minutos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cceso de 60 minutos círculo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Acceso de 60 minutos icono" descr="Acceso de 60 minut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098341"/>
            <a:ext cx="307238" cy="307238"/>
          </a:xfrm>
          <a:prstGeom prst="rect">
            <a:avLst/>
          </a:prstGeom>
        </p:spPr>
      </p:pic>
      <p:sp>
        <p:nvSpPr>
          <p:cNvPr id="21" name="Nombre Acceso de 60 minutos"/>
          <p:cNvSpPr txBox="1"/>
          <p:nvPr/>
        </p:nvSpPr>
        <p:spPr>
          <a:xfrm>
            <a:off x="1645920" y="3950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Acceso de 60 minutos</a:t>
            </a:r>
            <a:endParaRPr lang="en-US" sz="1600" dirty="0"/>
          </a:p>
        </p:txBody>
      </p:sp>
      <p:sp>
        <p:nvSpPr>
          <p:cNvPr id="22" name="Descripción Acceso de 60 minutos"/>
          <p:cNvSpPr txBox="1"/>
          <p:nvPr/>
        </p:nvSpPr>
        <p:spPr>
          <a:xfrm>
            <a:off x="82296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mismo RFC puede tener varias sesiones vigentes.</a:t>
            </a:r>
            <a:endParaRPr lang="en-US" sz="1400" dirty="0"/>
          </a:p>
        </p:txBody>
      </p:sp>
      <p:sp>
        <p:nvSpPr>
          <p:cNvPr id="23" name="Regla Guardar con Siguiente"/>
          <p:cNvSpPr/>
          <p:nvPr/>
        </p:nvSpPr>
        <p:spPr>
          <a:xfrm>
            <a:off x="429768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Guardar con Siguiente círculo"/>
          <p:cNvSpPr/>
          <p:nvPr/>
        </p:nvSpPr>
        <p:spPr>
          <a:xfrm>
            <a:off x="4572000" y="3931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Guardar con Siguiente icono" descr="Guardar con Siguien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098341"/>
            <a:ext cx="307238" cy="307238"/>
          </a:xfrm>
          <a:prstGeom prst="rect">
            <a:avLst/>
          </a:prstGeom>
        </p:spPr>
      </p:pic>
      <p:sp>
        <p:nvSpPr>
          <p:cNvPr id="26" name="Nombre Guardar con Siguiente"/>
          <p:cNvSpPr txBox="1"/>
          <p:nvPr/>
        </p:nvSpPr>
        <p:spPr>
          <a:xfrm>
            <a:off x="5394960" y="3950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Guardar con Siguiente</a:t>
            </a:r>
            <a:endParaRPr lang="en-US" sz="1600" dirty="0"/>
          </a:p>
        </p:txBody>
      </p:sp>
      <p:sp>
        <p:nvSpPr>
          <p:cNvPr id="27" name="Descripción Guardar con Siguiente"/>
          <p:cNvSpPr txBox="1"/>
          <p:nvPr/>
        </p:nvSpPr>
        <p:spPr>
          <a:xfrm>
            <a:off x="457200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un guardado válido completa la sección; un error no avanza.</a:t>
            </a:r>
            <a:endParaRPr lang="en-US" sz="1400" dirty="0"/>
          </a:p>
        </p:txBody>
      </p:sp>
      <p:sp>
        <p:nvSpPr>
          <p:cNvPr id="28" name="Regla CUCoP no se pierde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UCoP no se pierde círculo"/>
          <p:cNvSpPr/>
          <p:nvPr/>
        </p:nvSpPr>
        <p:spPr>
          <a:xfrm>
            <a:off x="8321040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CUCoP no se pierde icono" descr="CUCoP no se pier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4098341"/>
            <a:ext cx="307238" cy="307238"/>
          </a:xfrm>
          <a:prstGeom prst="rect">
            <a:avLst/>
          </a:prstGeom>
        </p:spPr>
      </p:pic>
      <p:sp>
        <p:nvSpPr>
          <p:cNvPr id="31" name="Nombre CUCoP no se pierde"/>
          <p:cNvSpPr txBox="1"/>
          <p:nvPr/>
        </p:nvSpPr>
        <p:spPr>
          <a:xfrm>
            <a:off x="9144000" y="3950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CUCoP no se pierde</a:t>
            </a:r>
            <a:endParaRPr lang="en-US" sz="1600" dirty="0"/>
          </a:p>
        </p:txBody>
      </p:sp>
      <p:sp>
        <p:nvSpPr>
          <p:cNvPr id="32" name="Descripción CUCoP no se pierde"/>
          <p:cNvSpPr txBox="1"/>
          <p:nvPr/>
        </p:nvSpPr>
        <p:spPr>
          <a:xfrm>
            <a:off x="832104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Cambiar Datos Generales o la cédula no borra la selección CUCoP.</a:t>
            </a:r>
            <a:endParaRPr lang="en-US" sz="1400" dirty="0"/>
          </a:p>
        </p:txBody>
      </p:sp>
      <p:sp>
        <p:nvSpPr>
          <p:cNvPr id="33" name="Fuente reglas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Estas y las demás reglas son las invariantes INV-01 a INV-39 del modelo de dominio.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especificamos: de la visión al contrato</a:t>
            </a:r>
            <a:endParaRPr lang="en-US" sz="3200" dirty="0"/>
          </a:p>
        </p:txBody>
      </p:sp>
      <p:sp>
        <p:nvSpPr>
          <p:cNvPr id="3" name="Visión círculo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Visión icono" descr="Vi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456639"/>
            <a:ext cx="241402" cy="241402"/>
          </a:xfrm>
          <a:prstGeom prst="rect">
            <a:avLst/>
          </a:prstGeom>
        </p:spPr>
      </p:pic>
      <p:sp>
        <p:nvSpPr>
          <p:cNvPr id="5" name="Capa Visión"/>
          <p:cNvSpPr txBox="1"/>
          <p:nvPr/>
        </p:nvSpPr>
        <p:spPr>
          <a:xfrm>
            <a:off x="1234440" y="1280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Visión</a:t>
            </a:r>
            <a:endParaRPr lang="en-US" sz="1700" dirty="0"/>
          </a:p>
        </p:txBody>
      </p:sp>
      <p:sp>
        <p:nvSpPr>
          <p:cNvPr id="6" name="Cifra Visión"/>
          <p:cNvSpPr txBox="1"/>
          <p:nvPr/>
        </p:nvSpPr>
        <p:spPr>
          <a:xfrm>
            <a:off x="3886200" y="1280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Unidad Visión"/>
          <p:cNvSpPr txBox="1"/>
          <p:nvPr/>
        </p:nvSpPr>
        <p:spPr>
          <a:xfrm>
            <a:off x="5669280" y="1280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problema y alcance</a:t>
            </a:r>
            <a:endParaRPr lang="en-US" sz="1400" dirty="0"/>
          </a:p>
        </p:txBody>
      </p:sp>
      <p:sp>
        <p:nvSpPr>
          <p:cNvPr id="8" name="Descripción Visión"/>
          <p:cNvSpPr txBox="1"/>
          <p:nvPr/>
        </p:nvSpPr>
        <p:spPr>
          <a:xfrm>
            <a:off x="7909560" y="12801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resolvemos y qué queda fuera</a:t>
            </a:r>
            <a:endParaRPr lang="en-US" sz="1400" dirty="0"/>
          </a:p>
        </p:txBody>
      </p:sp>
      <p:sp>
        <p:nvSpPr>
          <p:cNvPr id="9" name="Requerimientos círculo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Requerimientos icono" descr="Requerimien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142439"/>
            <a:ext cx="241402" cy="241402"/>
          </a:xfrm>
          <a:prstGeom prst="rect">
            <a:avLst/>
          </a:prstGeom>
        </p:spPr>
      </p:pic>
      <p:sp>
        <p:nvSpPr>
          <p:cNvPr id="11" name="Capa Requerimientos"/>
          <p:cNvSpPr txBox="1"/>
          <p:nvPr/>
        </p:nvSpPr>
        <p:spPr>
          <a:xfrm>
            <a:off x="1234440" y="1965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Requerimientos</a:t>
            </a:r>
            <a:endParaRPr lang="en-US" sz="1700" dirty="0"/>
          </a:p>
        </p:txBody>
      </p:sp>
      <p:sp>
        <p:nvSpPr>
          <p:cNvPr id="12" name="Cifra Requerimientos"/>
          <p:cNvSpPr txBox="1"/>
          <p:nvPr/>
        </p:nvSpPr>
        <p:spPr>
          <a:xfrm>
            <a:off x="3886200" y="1965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+ 13</a:t>
            </a:r>
            <a:endParaRPr lang="en-US" sz="2400" dirty="0"/>
          </a:p>
        </p:txBody>
      </p:sp>
      <p:sp>
        <p:nvSpPr>
          <p:cNvPr id="13" name="Unidad Requerimientos"/>
          <p:cNvSpPr txBox="1"/>
          <p:nvPr/>
        </p:nvSpPr>
        <p:spPr>
          <a:xfrm>
            <a:off x="566928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funcionales y no funcionales</a:t>
            </a:r>
            <a:endParaRPr lang="en-US" sz="1400" dirty="0"/>
          </a:p>
        </p:txBody>
      </p:sp>
      <p:sp>
        <p:nvSpPr>
          <p:cNvPr id="14" name="Descripción Requerimientos"/>
          <p:cNvSpPr txBox="1"/>
          <p:nvPr/>
        </p:nvSpPr>
        <p:spPr>
          <a:xfrm>
            <a:off x="7909560" y="19659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debe hacer el sistema y con qué calidad</a:t>
            </a:r>
            <a:endParaRPr lang="en-US" sz="1400" dirty="0"/>
          </a:p>
        </p:txBody>
      </p:sp>
      <p:sp>
        <p:nvSpPr>
          <p:cNvPr id="15" name="Historias de usuario círculo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Historias de usuario icono" descr="Historias de usuar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828239"/>
            <a:ext cx="241402" cy="241402"/>
          </a:xfrm>
          <a:prstGeom prst="rect">
            <a:avLst/>
          </a:prstGeom>
        </p:spPr>
      </p:pic>
      <p:sp>
        <p:nvSpPr>
          <p:cNvPr id="17" name="Capa Historias de usuario"/>
          <p:cNvSpPr txBox="1"/>
          <p:nvPr/>
        </p:nvSpPr>
        <p:spPr>
          <a:xfrm>
            <a:off x="1234440" y="2651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Historias de usuario</a:t>
            </a:r>
            <a:endParaRPr lang="en-US" sz="1700" dirty="0"/>
          </a:p>
        </p:txBody>
      </p:sp>
      <p:sp>
        <p:nvSpPr>
          <p:cNvPr id="18" name="Cifra Historias de usuario"/>
          <p:cNvSpPr txBox="1"/>
          <p:nvPr/>
        </p:nvSpPr>
        <p:spPr>
          <a:xfrm>
            <a:off x="3886200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· 136</a:t>
            </a:r>
            <a:endParaRPr lang="en-US" sz="2400" dirty="0"/>
          </a:p>
        </p:txBody>
      </p:sp>
      <p:sp>
        <p:nvSpPr>
          <p:cNvPr id="19" name="Unidad Historias de usuario"/>
          <p:cNvSpPr txBox="1"/>
          <p:nvPr/>
        </p:nvSpPr>
        <p:spPr>
          <a:xfrm>
            <a:off x="5669280" y="2651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historias y criterios</a:t>
            </a:r>
            <a:endParaRPr lang="en-US" sz="1400" dirty="0"/>
          </a:p>
        </p:txBody>
      </p:sp>
      <p:sp>
        <p:nvSpPr>
          <p:cNvPr id="20" name="Descripción Historias de usuario"/>
          <p:cNvSpPr txBox="1"/>
          <p:nvPr/>
        </p:nvSpPr>
        <p:spPr>
          <a:xfrm>
            <a:off x="7909560" y="26517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Cómo lo vive el proveedor y cómo se acepta</a:t>
            </a:r>
            <a:endParaRPr lang="en-US" sz="1400" dirty="0"/>
          </a:p>
        </p:txBody>
      </p:sp>
      <p:sp>
        <p:nvSpPr>
          <p:cNvPr id="21" name="Dominio círculo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Dominio icono" descr="Domini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3514039"/>
            <a:ext cx="241402" cy="241402"/>
          </a:xfrm>
          <a:prstGeom prst="rect">
            <a:avLst/>
          </a:prstGeom>
        </p:spPr>
      </p:pic>
      <p:sp>
        <p:nvSpPr>
          <p:cNvPr id="23" name="Capa Dominio"/>
          <p:cNvSpPr txBox="1"/>
          <p:nvPr/>
        </p:nvSpPr>
        <p:spPr>
          <a:xfrm>
            <a:off x="1234440" y="3337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Dominio</a:t>
            </a:r>
            <a:endParaRPr lang="en-US" sz="1700" dirty="0"/>
          </a:p>
        </p:txBody>
      </p:sp>
      <p:sp>
        <p:nvSpPr>
          <p:cNvPr id="24" name="Cifra Dominio"/>
          <p:cNvSpPr txBox="1"/>
          <p:nvPr/>
        </p:nvSpPr>
        <p:spPr>
          <a:xfrm>
            <a:off x="388620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· 39</a:t>
            </a:r>
            <a:endParaRPr lang="en-US" sz="2400" dirty="0"/>
          </a:p>
        </p:txBody>
      </p:sp>
      <p:sp>
        <p:nvSpPr>
          <p:cNvPr id="25" name="Unidad Dominio"/>
          <p:cNvSpPr txBox="1"/>
          <p:nvPr/>
        </p:nvSpPr>
        <p:spPr>
          <a:xfrm>
            <a:off x="566928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catálogos e invariantes</a:t>
            </a:r>
            <a:endParaRPr lang="en-US" sz="1400" dirty="0"/>
          </a:p>
        </p:txBody>
      </p:sp>
      <p:sp>
        <p:nvSpPr>
          <p:cNvPr id="26" name="Descripción Dominio"/>
          <p:cNvSpPr txBox="1"/>
          <p:nvPr/>
        </p:nvSpPr>
        <p:spPr>
          <a:xfrm>
            <a:off x="7909560" y="33375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Ciclo de vida del expediente y reglas que nunca se rompen</a:t>
            </a:r>
            <a:endParaRPr lang="en-US" sz="1400" dirty="0"/>
          </a:p>
        </p:txBody>
      </p:sp>
      <p:sp>
        <p:nvSpPr>
          <p:cNvPr id="27" name="Arquitectura círculo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Arquitectura icono" descr="Arquitectu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199839"/>
            <a:ext cx="241402" cy="241402"/>
          </a:xfrm>
          <a:prstGeom prst="rect">
            <a:avLst/>
          </a:prstGeom>
        </p:spPr>
      </p:pic>
      <p:sp>
        <p:nvSpPr>
          <p:cNvPr id="29" name="Capa Arquitectura"/>
          <p:cNvSpPr txBox="1"/>
          <p:nvPr/>
        </p:nvSpPr>
        <p:spPr>
          <a:xfrm>
            <a:off x="1234440" y="4023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Arquitectura</a:t>
            </a:r>
            <a:endParaRPr lang="en-US" sz="1700" dirty="0"/>
          </a:p>
        </p:txBody>
      </p:sp>
      <p:sp>
        <p:nvSpPr>
          <p:cNvPr id="30" name="Cifra Arquitectura"/>
          <p:cNvSpPr txBox="1"/>
          <p:nvPr/>
        </p:nvSpPr>
        <p:spPr>
          <a:xfrm>
            <a:off x="3886200" y="4023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31" name="Unidad Arquitectura"/>
          <p:cNvSpPr txBox="1"/>
          <p:nvPr/>
        </p:nvSpPr>
        <p:spPr>
          <a:xfrm>
            <a:off x="566928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decisiones (ADR)</a:t>
            </a:r>
            <a:endParaRPr lang="en-US" sz="1400" dirty="0"/>
          </a:p>
        </p:txBody>
      </p:sp>
      <p:sp>
        <p:nvSpPr>
          <p:cNvPr id="32" name="Descripción Arquitectura"/>
          <p:cNvSpPr txBox="1"/>
          <p:nvPr/>
        </p:nvSpPr>
        <p:spPr>
          <a:xfrm>
            <a:off x="7909560" y="40233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Cómo se construye y por qué</a:t>
            </a:r>
            <a:endParaRPr lang="en-US" sz="1400" dirty="0"/>
          </a:p>
        </p:txBody>
      </p:sp>
      <p:sp>
        <p:nvSpPr>
          <p:cNvPr id="33" name="Contrato de API círculo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Contrato de API icono" descr="Contrato de AP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" y="4885639"/>
            <a:ext cx="241402" cy="241402"/>
          </a:xfrm>
          <a:prstGeom prst="rect">
            <a:avLst/>
          </a:prstGeom>
        </p:spPr>
      </p:pic>
      <p:sp>
        <p:nvSpPr>
          <p:cNvPr id="35" name="Capa Contrato de API"/>
          <p:cNvSpPr txBox="1"/>
          <p:nvPr/>
        </p:nvSpPr>
        <p:spPr>
          <a:xfrm>
            <a:off x="1234440" y="4709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Contrato de API</a:t>
            </a:r>
            <a:endParaRPr lang="en-US" sz="1700" dirty="0"/>
          </a:p>
        </p:txBody>
      </p:sp>
      <p:sp>
        <p:nvSpPr>
          <p:cNvPr id="36" name="Cifra Contrato de API"/>
          <p:cNvSpPr txBox="1"/>
          <p:nvPr/>
        </p:nvSpPr>
        <p:spPr>
          <a:xfrm>
            <a:off x="3886200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37" name="Unidad Contrato de API"/>
          <p:cNvSpPr txBox="1"/>
          <p:nvPr/>
        </p:nvSpPr>
        <p:spPr>
          <a:xfrm>
            <a:off x="5669280" y="4709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operaciones</a:t>
            </a:r>
            <a:endParaRPr lang="en-US" sz="1400" dirty="0"/>
          </a:p>
        </p:txBody>
      </p:sp>
      <p:sp>
        <p:nvSpPr>
          <p:cNvPr id="38" name="Descripción Contrato de API"/>
          <p:cNvSpPr txBox="1"/>
          <p:nvPr/>
        </p:nvSpPr>
        <p:spPr>
          <a:xfrm>
            <a:off x="7909560" y="47091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 que el sistema expone, exacto y verificable</a:t>
            </a:r>
            <a:endParaRPr lang="en-US" sz="1400" dirty="0"/>
          </a:p>
        </p:txBody>
      </p:sp>
      <p:sp>
        <p:nvSpPr>
          <p:cNvPr id="39" name="Trazabilidad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o trazabilidad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Trazabilidad: cada criterio se une con su regla, su operación y sus pruebas. Si la spec no alcanza, se ajusta la spec antes del código.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11 historias, en el orden en que se viven</a:t>
            </a:r>
            <a:endParaRPr lang="en-US" sz="3200" dirty="0"/>
          </a:p>
        </p:txBody>
      </p:sp>
      <p:sp>
        <p:nvSpPr>
          <p:cNvPr id="3" name="Grupo Entrar"/>
          <p:cNvSpPr/>
          <p:nvPr/>
        </p:nvSpPr>
        <p:spPr>
          <a:xfrm>
            <a:off x="548640" y="137160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ntrar círculo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ntrar icono" descr="Entr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800454"/>
            <a:ext cx="285293" cy="285293"/>
          </a:xfrm>
          <a:prstGeom prst="rect">
            <a:avLst/>
          </a:prstGeom>
        </p:spPr>
      </p:pic>
      <p:sp>
        <p:nvSpPr>
          <p:cNvPr id="6" name="Nombre Entrar"/>
          <p:cNvSpPr txBox="1"/>
          <p:nvPr/>
        </p:nvSpPr>
        <p:spPr>
          <a:xfrm>
            <a:off x="146304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Entrar</a:t>
            </a:r>
            <a:endParaRPr lang="en-US" sz="1800" dirty="0"/>
          </a:p>
        </p:txBody>
      </p:sp>
      <p:sp>
        <p:nvSpPr>
          <p:cNvPr id="7" name="US03"/>
          <p:cNvSpPr txBox="1"/>
          <p:nvPr/>
        </p:nvSpPr>
        <p:spPr>
          <a:xfrm>
            <a:off x="822960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US03</a:t>
            </a:r>
            <a:endParaRPr lang="en-US" sz="1400" dirty="0"/>
          </a:p>
        </p:txBody>
      </p:sp>
      <p:sp>
        <p:nvSpPr>
          <p:cNvPr id="8" name="Historia US03"/>
          <p:cNvSpPr txBox="1"/>
          <p:nvPr/>
        </p:nvSpPr>
        <p:spPr>
          <a:xfrm>
            <a:off x="155448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Aceptar políticas</a:t>
            </a:r>
            <a:endParaRPr lang="en-US" sz="1400" dirty="0"/>
          </a:p>
        </p:txBody>
      </p:sp>
      <p:sp>
        <p:nvSpPr>
          <p:cNvPr id="9" name="US01"/>
          <p:cNvSpPr txBox="1"/>
          <p:nvPr/>
        </p:nvSpPr>
        <p:spPr>
          <a:xfrm>
            <a:off x="82296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US01</a:t>
            </a:r>
            <a:endParaRPr lang="en-US" sz="1400" dirty="0"/>
          </a:p>
        </p:txBody>
      </p:sp>
      <p:sp>
        <p:nvSpPr>
          <p:cNvPr id="10" name="Historia US01"/>
          <p:cNvSpPr txBox="1"/>
          <p:nvPr/>
        </p:nvSpPr>
        <p:spPr>
          <a:xfrm>
            <a:off x="1554480" y="3383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Identificarse con e.firma</a:t>
            </a:r>
            <a:endParaRPr lang="en-US" sz="1400" dirty="0"/>
          </a:p>
        </p:txBody>
      </p:sp>
      <p:sp>
        <p:nvSpPr>
          <p:cNvPr id="11" name="US02"/>
          <p:cNvSpPr txBox="1"/>
          <p:nvPr/>
        </p:nvSpPr>
        <p:spPr>
          <a:xfrm>
            <a:off x="822960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US02</a:t>
            </a:r>
            <a:endParaRPr lang="en-US" sz="1400" dirty="0"/>
          </a:p>
        </p:txBody>
      </p:sp>
      <p:sp>
        <p:nvSpPr>
          <p:cNvPr id="12" name="Historia US02"/>
          <p:cNvSpPr txBox="1"/>
          <p:nvPr/>
        </p:nvSpPr>
        <p:spPr>
          <a:xfrm>
            <a:off x="155448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Verificar si ya existe</a:t>
            </a:r>
            <a:endParaRPr lang="en-US" sz="1400" dirty="0"/>
          </a:p>
        </p:txBody>
      </p:sp>
      <p:sp>
        <p:nvSpPr>
          <p:cNvPr id="13" name="Grupo Expediente"/>
          <p:cNvSpPr/>
          <p:nvPr/>
        </p:nvSpPr>
        <p:spPr>
          <a:xfrm>
            <a:off x="3360420" y="137160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xpediente círculo"/>
          <p:cNvSpPr/>
          <p:nvPr/>
        </p:nvSpPr>
        <p:spPr>
          <a:xfrm>
            <a:off x="3589020" y="16459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Expediente icono" descr="Expedie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1800454"/>
            <a:ext cx="285293" cy="285293"/>
          </a:xfrm>
          <a:prstGeom prst="rect">
            <a:avLst/>
          </a:prstGeom>
        </p:spPr>
      </p:pic>
      <p:sp>
        <p:nvSpPr>
          <p:cNvPr id="16" name="Nombre Expediente"/>
          <p:cNvSpPr txBox="1"/>
          <p:nvPr/>
        </p:nvSpPr>
        <p:spPr>
          <a:xfrm>
            <a:off x="427482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Expediente</a:t>
            </a:r>
            <a:endParaRPr lang="en-US" sz="1800" dirty="0"/>
          </a:p>
        </p:txBody>
      </p:sp>
      <p:sp>
        <p:nvSpPr>
          <p:cNvPr id="17" name="US04"/>
          <p:cNvSpPr txBox="1"/>
          <p:nvPr/>
        </p:nvSpPr>
        <p:spPr>
          <a:xfrm>
            <a:off x="3634740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US04</a:t>
            </a:r>
            <a:endParaRPr lang="en-US" sz="1400" dirty="0"/>
          </a:p>
        </p:txBody>
      </p:sp>
      <p:sp>
        <p:nvSpPr>
          <p:cNvPr id="18" name="Historia US04"/>
          <p:cNvSpPr txBox="1"/>
          <p:nvPr/>
        </p:nvSpPr>
        <p:spPr>
          <a:xfrm>
            <a:off x="436626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Crear expediente</a:t>
            </a:r>
            <a:endParaRPr lang="en-US" sz="1400" dirty="0"/>
          </a:p>
        </p:txBody>
      </p:sp>
      <p:sp>
        <p:nvSpPr>
          <p:cNvPr id="19" name="US05"/>
          <p:cNvSpPr txBox="1"/>
          <p:nvPr/>
        </p:nvSpPr>
        <p:spPr>
          <a:xfrm>
            <a:off x="363474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US05</a:t>
            </a:r>
            <a:endParaRPr lang="en-US" sz="1400" dirty="0"/>
          </a:p>
        </p:txBody>
      </p:sp>
      <p:sp>
        <p:nvSpPr>
          <p:cNvPr id="20" name="Historia US05"/>
          <p:cNvSpPr txBox="1"/>
          <p:nvPr/>
        </p:nvSpPr>
        <p:spPr>
          <a:xfrm>
            <a:off x="4366260" y="3383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Reanudar incompleto</a:t>
            </a:r>
            <a:endParaRPr lang="en-US" sz="1400" dirty="0"/>
          </a:p>
        </p:txBody>
      </p:sp>
      <p:sp>
        <p:nvSpPr>
          <p:cNvPr id="21" name="US06"/>
          <p:cNvSpPr txBox="1"/>
          <p:nvPr/>
        </p:nvSpPr>
        <p:spPr>
          <a:xfrm>
            <a:off x="3634740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US06</a:t>
            </a:r>
            <a:endParaRPr lang="en-US" sz="1400" dirty="0"/>
          </a:p>
        </p:txBody>
      </p:sp>
      <p:sp>
        <p:nvSpPr>
          <p:cNvPr id="22" name="Historia US06"/>
          <p:cNvSpPr txBox="1"/>
          <p:nvPr/>
        </p:nvSpPr>
        <p:spPr>
          <a:xfrm>
            <a:off x="436626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Navegar y guardar</a:t>
            </a:r>
            <a:endParaRPr lang="en-US" sz="1400" dirty="0"/>
          </a:p>
        </p:txBody>
      </p:sp>
      <p:sp>
        <p:nvSpPr>
          <p:cNvPr id="23" name="Grupo Capturar"/>
          <p:cNvSpPr/>
          <p:nvPr/>
        </p:nvSpPr>
        <p:spPr>
          <a:xfrm>
            <a:off x="6172200" y="137160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pturar círculo"/>
          <p:cNvSpPr/>
          <p:nvPr/>
        </p:nvSpPr>
        <p:spPr>
          <a:xfrm>
            <a:off x="640080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apturar icono" descr="Captur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334" y="1800454"/>
            <a:ext cx="285293" cy="285293"/>
          </a:xfrm>
          <a:prstGeom prst="rect">
            <a:avLst/>
          </a:prstGeom>
        </p:spPr>
      </p:pic>
      <p:sp>
        <p:nvSpPr>
          <p:cNvPr id="26" name="Nombre Capturar"/>
          <p:cNvSpPr txBox="1"/>
          <p:nvPr/>
        </p:nvSpPr>
        <p:spPr>
          <a:xfrm>
            <a:off x="708660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Capturar</a:t>
            </a:r>
            <a:endParaRPr lang="en-US" sz="1800" dirty="0"/>
          </a:p>
        </p:txBody>
      </p:sp>
      <p:sp>
        <p:nvSpPr>
          <p:cNvPr id="27" name="US08"/>
          <p:cNvSpPr txBox="1"/>
          <p:nvPr/>
        </p:nvSpPr>
        <p:spPr>
          <a:xfrm>
            <a:off x="6446520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US08</a:t>
            </a:r>
            <a:endParaRPr lang="en-US" sz="1400" dirty="0"/>
          </a:p>
        </p:txBody>
      </p:sp>
      <p:sp>
        <p:nvSpPr>
          <p:cNvPr id="28" name="Historia US08"/>
          <p:cNvSpPr txBox="1"/>
          <p:nvPr/>
        </p:nvSpPr>
        <p:spPr>
          <a:xfrm>
            <a:off x="717804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Datos Generales</a:t>
            </a:r>
            <a:endParaRPr lang="en-US" sz="1400" dirty="0"/>
          </a:p>
        </p:txBody>
      </p:sp>
      <p:sp>
        <p:nvSpPr>
          <p:cNvPr id="29" name="US09"/>
          <p:cNvSpPr txBox="1"/>
          <p:nvPr/>
        </p:nvSpPr>
        <p:spPr>
          <a:xfrm>
            <a:off x="6446520" y="3383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US09</a:t>
            </a:r>
            <a:endParaRPr lang="en-US" sz="1400" dirty="0"/>
          </a:p>
        </p:txBody>
      </p:sp>
      <p:sp>
        <p:nvSpPr>
          <p:cNvPr id="30" name="Historia US09"/>
          <p:cNvSpPr txBox="1"/>
          <p:nvPr/>
        </p:nvSpPr>
        <p:spPr>
          <a:xfrm>
            <a:off x="7178040" y="3383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Teléfonos</a:t>
            </a:r>
            <a:endParaRPr lang="en-US" sz="1400" dirty="0"/>
          </a:p>
        </p:txBody>
      </p:sp>
      <p:sp>
        <p:nvSpPr>
          <p:cNvPr id="31" name="US10"/>
          <p:cNvSpPr txBox="1"/>
          <p:nvPr/>
        </p:nvSpPr>
        <p:spPr>
          <a:xfrm>
            <a:off x="6446520" y="4160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US10</a:t>
            </a:r>
            <a:endParaRPr lang="en-US" sz="1400" dirty="0"/>
          </a:p>
        </p:txBody>
      </p:sp>
      <p:sp>
        <p:nvSpPr>
          <p:cNvPr id="32" name="Historia US10"/>
          <p:cNvSpPr txBox="1"/>
          <p:nvPr/>
        </p:nvSpPr>
        <p:spPr>
          <a:xfrm>
            <a:off x="7178040" y="4160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Cédula fiscal</a:t>
            </a:r>
            <a:endParaRPr lang="en-US" sz="1400" dirty="0"/>
          </a:p>
        </p:txBody>
      </p:sp>
      <p:sp>
        <p:nvSpPr>
          <p:cNvPr id="33" name="US11"/>
          <p:cNvSpPr txBox="1"/>
          <p:nvPr/>
        </p:nvSpPr>
        <p:spPr>
          <a:xfrm>
            <a:off x="6446520" y="4937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US11</a:t>
            </a:r>
            <a:endParaRPr lang="en-US" sz="1400" dirty="0"/>
          </a:p>
        </p:txBody>
      </p:sp>
      <p:sp>
        <p:nvSpPr>
          <p:cNvPr id="34" name="Historia US11"/>
          <p:cNvSpPr txBox="1"/>
          <p:nvPr/>
        </p:nvSpPr>
        <p:spPr>
          <a:xfrm>
            <a:off x="7178040" y="49377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Participación y CUCoP</a:t>
            </a:r>
            <a:endParaRPr lang="en-US" sz="1400" dirty="0"/>
          </a:p>
        </p:txBody>
      </p:sp>
      <p:sp>
        <p:nvSpPr>
          <p:cNvPr id="35" name="Grupo Cerrar"/>
          <p:cNvSpPr/>
          <p:nvPr/>
        </p:nvSpPr>
        <p:spPr>
          <a:xfrm>
            <a:off x="8983980" y="1371600"/>
            <a:ext cx="2606040" cy="45262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Cerrar círculo"/>
          <p:cNvSpPr/>
          <p:nvPr/>
        </p:nvSpPr>
        <p:spPr>
          <a:xfrm>
            <a:off x="9212580" y="164592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7" name="Cerrar icono" descr="Cerr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114" y="1800454"/>
            <a:ext cx="285293" cy="285293"/>
          </a:xfrm>
          <a:prstGeom prst="rect">
            <a:avLst/>
          </a:prstGeom>
        </p:spPr>
      </p:pic>
      <p:sp>
        <p:nvSpPr>
          <p:cNvPr id="38" name="Nombre Cerrar"/>
          <p:cNvSpPr txBox="1"/>
          <p:nvPr/>
        </p:nvSpPr>
        <p:spPr>
          <a:xfrm>
            <a:off x="989838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Cerrar</a:t>
            </a:r>
            <a:endParaRPr lang="en-US" sz="1800" dirty="0"/>
          </a:p>
        </p:txBody>
      </p:sp>
      <p:sp>
        <p:nvSpPr>
          <p:cNvPr id="39" name="US07"/>
          <p:cNvSpPr txBox="1"/>
          <p:nvPr/>
        </p:nvSpPr>
        <p:spPr>
          <a:xfrm>
            <a:off x="9258300" y="2606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US07</a:t>
            </a:r>
            <a:endParaRPr lang="en-US" sz="1400" dirty="0"/>
          </a:p>
        </p:txBody>
      </p:sp>
      <p:sp>
        <p:nvSpPr>
          <p:cNvPr id="40" name="Historia US07"/>
          <p:cNvSpPr txBox="1"/>
          <p:nvPr/>
        </p:nvSpPr>
        <p:spPr>
          <a:xfrm>
            <a:off x="998982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Finalizar registro (etapa 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por etapas</a:t>
            </a:r>
            <a:endParaRPr lang="en-US" sz="3200" dirty="0"/>
          </a:p>
        </p:txBody>
      </p:sp>
      <p:sp>
        <p:nvSpPr>
          <p:cNvPr id="3" name="Etapa Etapa 1 · entregada"/>
          <p:cNvSpPr/>
          <p:nvPr/>
        </p:nvSpPr>
        <p:spPr>
          <a:xfrm>
            <a:off x="548640" y="13716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tapa 1 · entregada círculo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tapa 1 · entregada icono" descr="Etapa 1 · entreg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24228"/>
            <a:ext cx="329184" cy="329184"/>
          </a:xfrm>
          <a:prstGeom prst="rect">
            <a:avLst/>
          </a:prstGeom>
        </p:spPr>
      </p:pic>
      <p:sp>
        <p:nvSpPr>
          <p:cNvPr id="6" name="Nombre Etapa 1 · entregada"/>
          <p:cNvSpPr txBox="1"/>
          <p:nvPr/>
        </p:nvSpPr>
        <p:spPr>
          <a:xfrm>
            <a:off x="164592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Etapa 1 · entregada</a:t>
            </a:r>
            <a:endParaRPr lang="en-US" sz="1700" dirty="0"/>
          </a:p>
        </p:txBody>
      </p:sp>
      <p:sp>
        <p:nvSpPr>
          <p:cNvPr id="7" name="Lista Etapa 1 · entregada"/>
          <p:cNvSpPr txBox="1"/>
          <p:nvPr/>
        </p:nvSpPr>
        <p:spPr>
          <a:xfrm>
            <a:off x="868680" y="260604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Aviso y e.firma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Existencia, alta y reanudación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Datos Generales, teléfonos y cédula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Participación y CUCoP</a:t>
            </a:r>
            <a:endParaRPr lang="en-US" sz="1500" dirty="0"/>
          </a:p>
        </p:txBody>
      </p:sp>
      <p:sp>
        <p:nvSpPr>
          <p:cNvPr id="8" name="Etapa Etapa 2 · por especificar"/>
          <p:cNvSpPr/>
          <p:nvPr/>
        </p:nvSpPr>
        <p:spPr>
          <a:xfrm>
            <a:off x="4297680" y="13716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tapa 2 · por especificar círculo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Etapa 2 · por especificar icono" descr="Etapa 2 · por especific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24228"/>
            <a:ext cx="329184" cy="329184"/>
          </a:xfrm>
          <a:prstGeom prst="rect">
            <a:avLst/>
          </a:prstGeom>
        </p:spPr>
      </p:pic>
      <p:sp>
        <p:nvSpPr>
          <p:cNvPr id="11" name="Nombre Etapa 2 · por especificar"/>
          <p:cNvSpPr txBox="1"/>
          <p:nvPr/>
        </p:nvSpPr>
        <p:spPr>
          <a:xfrm>
            <a:off x="539496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Etapa 2 · por especificar</a:t>
            </a:r>
            <a:endParaRPr lang="en-US" sz="1700" dirty="0"/>
          </a:p>
        </p:txBody>
      </p:sp>
      <p:sp>
        <p:nvSpPr>
          <p:cNvPr id="12" name="Lista Etapa 2 · por especificar"/>
          <p:cNvSpPr txBox="1"/>
          <p:nvPr/>
        </p:nvSpPr>
        <p:spPr>
          <a:xfrm>
            <a:off x="4617720" y="260604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Contactos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Domicilio fiscal y Cobertura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Firma Electrónica final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Finalización, clave del proveedor y acuse</a:t>
            </a:r>
            <a:endParaRPr lang="en-US" sz="1500" dirty="0"/>
          </a:p>
        </p:txBody>
      </p:sp>
      <p:sp>
        <p:nvSpPr>
          <p:cNvPr id="13" name="Etapa Fuera del sistema"/>
          <p:cNvSpPr/>
          <p:nvPr/>
        </p:nvSpPr>
        <p:spPr>
          <a:xfrm>
            <a:off x="8046720" y="13716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uera del sistema círculo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Fuera del sistema icono" descr="Fuera del siste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1824228"/>
            <a:ext cx="329184" cy="329184"/>
          </a:xfrm>
          <a:prstGeom prst="rect">
            <a:avLst/>
          </a:prstGeom>
        </p:spPr>
      </p:pic>
      <p:sp>
        <p:nvSpPr>
          <p:cNvPr id="16" name="Nombre Fuera del sistema"/>
          <p:cNvSpPr txBox="1"/>
          <p:nvPr/>
        </p:nvSpPr>
        <p:spPr>
          <a:xfrm>
            <a:off x="9144000" y="1691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Fuera del sistema</a:t>
            </a:r>
            <a:endParaRPr lang="en-US" sz="1700" dirty="0"/>
          </a:p>
        </p:txBody>
      </p:sp>
      <p:sp>
        <p:nvSpPr>
          <p:cNvPr id="17" name="Lista Fuera del sistema"/>
          <p:cNvSpPr txBox="1"/>
          <p:nvPr/>
        </p:nvSpPr>
        <p:spPr>
          <a:xfrm>
            <a:off x="8366760" y="260604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Componente externo de Firma Electrónica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Administración del catálogo de proveedores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Siguientes pasos</a:t>
            </a:r>
            <a:endParaRPr lang="en-US" sz="3400" dirty="0"/>
          </a:p>
        </p:txBody>
      </p:sp>
      <p:sp>
        <p:nvSpPr>
          <p:cNvPr id="3" name="Especificar la etapa 2 con negocio círculo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Especificar la etapa 2 con negocio icono" descr="Especificar la etapa 2 con nego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756562"/>
            <a:ext cx="373075" cy="373075"/>
          </a:xfrm>
          <a:prstGeom prst="rect">
            <a:avLst/>
          </a:prstGeom>
        </p:spPr>
      </p:pic>
      <p:sp>
        <p:nvSpPr>
          <p:cNvPr id="5" name="Paso Especificar la etapa 2 con negocio"/>
          <p:cNvSpPr txBox="1"/>
          <p:nvPr/>
        </p:nvSpPr>
        <p:spPr>
          <a:xfrm>
            <a:off x="1554480" y="1572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Especificar la etapa 2 con negocio</a:t>
            </a:r>
            <a:endParaRPr lang="en-US" sz="2000" dirty="0"/>
          </a:p>
        </p:txBody>
      </p:sp>
      <p:sp>
        <p:nvSpPr>
          <p:cNvPr id="6" name="Detalle Especificar la etapa 2 con negocio"/>
          <p:cNvSpPr txBox="1"/>
          <p:nvPr/>
        </p:nvSpPr>
        <p:spPr>
          <a:xfrm>
            <a:off x="1554480" y="20574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Contactos, domicilio, cobertura, firma final y finalización: reglas y criterios antes de construir.</a:t>
            </a:r>
            <a:endParaRPr lang="en-US" sz="1500" dirty="0"/>
          </a:p>
        </p:txBody>
      </p:sp>
      <p:sp>
        <p:nvSpPr>
          <p:cNvPr id="7" name="Construir el asistente del proveedor círculo"/>
          <p:cNvSpPr/>
          <p:nvPr/>
        </p:nvSpPr>
        <p:spPr>
          <a:xfrm>
            <a:off x="548640" y="29718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Construir el asistente del proveedor icono" descr="Construir el asistente del provee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3173882"/>
            <a:ext cx="373075" cy="373075"/>
          </a:xfrm>
          <a:prstGeom prst="rect">
            <a:avLst/>
          </a:prstGeom>
        </p:spPr>
      </p:pic>
      <p:sp>
        <p:nvSpPr>
          <p:cNvPr id="9" name="Paso Construir el asistente del proveedor"/>
          <p:cNvSpPr txBox="1"/>
          <p:nvPr/>
        </p:nvSpPr>
        <p:spPr>
          <a:xfrm>
            <a:off x="1554480" y="29900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Construir el asistente del proveedor</a:t>
            </a:r>
            <a:endParaRPr lang="en-US" sz="2000" dirty="0"/>
          </a:p>
        </p:txBody>
      </p:sp>
      <p:sp>
        <p:nvSpPr>
          <p:cNvPr id="10" name="Detalle Construir el asistente del proveedor"/>
          <p:cNvSpPr txBox="1"/>
          <p:nvPr/>
        </p:nvSpPr>
        <p:spPr>
          <a:xfrm>
            <a:off x="1554480" y="34747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Pantallas sobre el backend ya entregado, con los criterios de interfaz de las 11 historias.</a:t>
            </a:r>
            <a:endParaRPr lang="en-US" sz="1500" dirty="0"/>
          </a:p>
        </p:txBody>
      </p:sp>
      <p:sp>
        <p:nvSpPr>
          <p:cNvPr id="11" name="Acordar la operación círculo"/>
          <p:cNvSpPr/>
          <p:nvPr/>
        </p:nvSpPr>
        <p:spPr>
          <a:xfrm>
            <a:off x="548640" y="43891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Acordar la operación icono" descr="Acordar la opera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4591202"/>
            <a:ext cx="373075" cy="373075"/>
          </a:xfrm>
          <a:prstGeom prst="rect">
            <a:avLst/>
          </a:prstGeom>
        </p:spPr>
      </p:pic>
      <p:sp>
        <p:nvSpPr>
          <p:cNvPr id="13" name="Paso Acordar la operación"/>
          <p:cNvSpPr txBox="1"/>
          <p:nvPr/>
        </p:nvSpPr>
        <p:spPr>
          <a:xfrm>
            <a:off x="1554480" y="44074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Acordar la operación</a:t>
            </a:r>
            <a:endParaRPr lang="en-US" sz="2000" dirty="0"/>
          </a:p>
        </p:txBody>
      </p:sp>
      <p:sp>
        <p:nvSpPr>
          <p:cNvPr id="14" name="Detalle Acordar la operación"/>
          <p:cNvSpPr txBox="1"/>
          <p:nvPr/>
        </p:nvSpPr>
        <p:spPr>
          <a:xfrm>
            <a:off x="1554480" y="4892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Medir rendimiento y disponibilidad, y definir respaldos con los objetivos ya aprobados.</a:t>
            </a:r>
            <a:endParaRPr lang="en-US" sz="1500" dirty="0"/>
          </a:p>
        </p:txBody>
      </p:sp>
      <p:sp>
        <p:nvSpPr>
          <p:cNvPr id="15" name="Referencia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Resultado técnico de la etapa 1: presentacion-etapa-1.pptx y docs/entrega/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istro Fredkor">
  <a:themeElements>
    <a:clrScheme name="Registro Fredkor">
      <a:dk1>
        <a:srgbClr val="1B2B28"/>
      </a:dk1>
      <a:lt1>
        <a:srgbClr val="FFFFFF"/>
      </a:lt1>
      <a:dk2>
        <a:srgbClr val="1F4E46"/>
      </a:dk2>
      <a:lt2>
        <a:srgbClr val="EEF4F2"/>
      </a:lt2>
      <a:accent1>
        <a:srgbClr val="1F4E46"/>
      </a:accent1>
      <a:accent2>
        <a:srgbClr val="E3A33B"/>
      </a:accent2>
      <a:accent3>
        <a:srgbClr val="5B8C7E"/>
      </a:accent3>
      <a:accent4>
        <a:srgbClr val="9FC3B6"/>
      </a:accent4>
      <a:accent5>
        <a:srgbClr val="C7522A"/>
      </a:accent5>
      <a:accent6>
        <a:srgbClr val="6B7B78"/>
      </a:accent6>
      <a:hlink>
        <a:srgbClr val="1F4E46"/>
      </a:hlink>
      <a:folHlink>
        <a:srgbClr val="5B8C7E"/>
      </a:folHlink>
    </a:clrScheme>
    <a:fontScheme name="Registro Fredk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de proveedores — Presentación de negocio</dc:title>
  <dc:subject>Problema, flujo de negocio y especificaciones</dc:subject>
  <dc:creator>Fredkor Labs</dc:creator>
  <cp:lastModifiedBy>Fredkor Labs</cp:lastModifiedBy>
  <cp:revision>1</cp:revision>
  <dcterms:created xsi:type="dcterms:W3CDTF">2026-10-25T13:48:57Z</dcterms:created>
  <dcterms:modified xsi:type="dcterms:W3CDTF">2026-10-25T13:48:57Z</dcterms:modified>
</cp:coreProperties>
</file>